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320" r:id="rId2"/>
    <p:sldId id="315" r:id="rId3"/>
    <p:sldId id="260" r:id="rId4"/>
    <p:sldId id="261" r:id="rId5"/>
    <p:sldId id="269" r:id="rId6"/>
    <p:sldId id="262" r:id="rId7"/>
    <p:sldId id="268" r:id="rId8"/>
    <p:sldId id="270" r:id="rId9"/>
    <p:sldId id="273" r:id="rId10"/>
    <p:sldId id="266" r:id="rId11"/>
    <p:sldId id="271" r:id="rId12"/>
    <p:sldId id="318" r:id="rId13"/>
    <p:sldId id="272" r:id="rId14"/>
    <p:sldId id="316" r:id="rId15"/>
    <p:sldId id="317" r:id="rId16"/>
    <p:sldId id="319" r:id="rId17"/>
    <p:sldId id="257" r:id="rId18"/>
    <p:sldId id="313" r:id="rId19"/>
    <p:sldId id="314" r:id="rId20"/>
    <p:sldId id="258" r:id="rId21"/>
    <p:sldId id="267" r:id="rId22"/>
    <p:sldId id="263" r:id="rId23"/>
    <p:sldId id="264" r:id="rId24"/>
    <p:sldId id="265"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324" autoAdjust="0"/>
    <p:restoredTop sz="94660"/>
  </p:normalViewPr>
  <p:slideViewPr>
    <p:cSldViewPr snapToGrid="0">
      <p:cViewPr varScale="1">
        <p:scale>
          <a:sx n="59" d="100"/>
          <a:sy n="59" d="100"/>
        </p:scale>
        <p:origin x="96" y="192"/>
      </p:cViewPr>
      <p:guideLst/>
    </p:cSldViewPr>
  </p:slideViewPr>
  <p:notesTextViewPr>
    <p:cViewPr>
      <p:scale>
        <a:sx n="1" d="1"/>
        <a:sy n="1" d="1"/>
      </p:scale>
      <p:origin x="0" y="0"/>
    </p:cViewPr>
  </p:notesTextViewPr>
  <p:sorterViewPr>
    <p:cViewPr>
      <p:scale>
        <a:sx n="62" d="100"/>
        <a:sy n="62" d="100"/>
      </p:scale>
      <p:origin x="0" y="-90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CF4A3CF-656D-479B-99E0-1D15A0A2B5FC}" type="doc">
      <dgm:prSet loTypeId="urn:diagrams.loki3.com/VaryingWidthList" loCatId="list" qsTypeId="urn:microsoft.com/office/officeart/2005/8/quickstyle/simple1" qsCatId="simple" csTypeId="urn:microsoft.com/office/officeart/2005/8/colors/accent1_2" csCatId="accent1" phldr="1"/>
      <dgm:spPr/>
      <dgm:t>
        <a:bodyPr/>
        <a:lstStyle/>
        <a:p>
          <a:endParaRPr lang="en-GB"/>
        </a:p>
      </dgm:t>
    </dgm:pt>
    <dgm:pt modelId="{834653B7-756E-4DFF-9210-D2EB8638BF87}">
      <dgm:prSet phldrT="[Text]" custT="1"/>
      <dgm:spPr>
        <a:solidFill>
          <a:srgbClr val="FFC000"/>
        </a:solidFill>
      </dgm:spPr>
      <dgm:t>
        <a:bodyPr/>
        <a:lstStyle/>
        <a:p>
          <a:r>
            <a:rPr lang="en-GB" sz="4400" dirty="0"/>
            <a:t>Objectives</a:t>
          </a:r>
          <a:endParaRPr lang="en-GB" sz="3600" dirty="0"/>
        </a:p>
      </dgm:t>
    </dgm:pt>
    <dgm:pt modelId="{278B0A90-20C8-4D5F-AB54-C5F94E976321}" type="parTrans" cxnId="{8737DAB3-A618-470C-82B7-F5157884C14C}">
      <dgm:prSet/>
      <dgm:spPr/>
      <dgm:t>
        <a:bodyPr/>
        <a:lstStyle/>
        <a:p>
          <a:endParaRPr lang="en-GB"/>
        </a:p>
      </dgm:t>
    </dgm:pt>
    <dgm:pt modelId="{66217C97-9EA3-4198-9E1E-8EE15AD84C07}" type="sibTrans" cxnId="{8737DAB3-A618-470C-82B7-F5157884C14C}">
      <dgm:prSet/>
      <dgm:spPr/>
      <dgm:t>
        <a:bodyPr/>
        <a:lstStyle/>
        <a:p>
          <a:endParaRPr lang="en-GB"/>
        </a:p>
      </dgm:t>
    </dgm:pt>
    <dgm:pt modelId="{85DF0584-080F-4C4F-88C6-EBB6080D48F3}">
      <dgm:prSet phldrT="[Text]" custT="1"/>
      <dgm:spPr>
        <a:solidFill>
          <a:srgbClr val="00B050"/>
        </a:solidFill>
      </dgm:spPr>
      <dgm:t>
        <a:bodyPr/>
        <a:lstStyle/>
        <a:p>
          <a:r>
            <a:rPr lang="en-GB" sz="4000" dirty="0"/>
            <a:t>Brainstorming</a:t>
          </a:r>
          <a:endParaRPr lang="en-GB" sz="1700" dirty="0"/>
        </a:p>
      </dgm:t>
    </dgm:pt>
    <dgm:pt modelId="{E4594D44-4697-4237-A666-4FCD56A305D4}" type="parTrans" cxnId="{3F7665C6-05D1-4FE2-A4EE-D7EBB21838EE}">
      <dgm:prSet/>
      <dgm:spPr/>
      <dgm:t>
        <a:bodyPr/>
        <a:lstStyle/>
        <a:p>
          <a:endParaRPr lang="en-GB"/>
        </a:p>
      </dgm:t>
    </dgm:pt>
    <dgm:pt modelId="{3DA09BC7-DAE1-42F2-A569-57662B5CB51E}" type="sibTrans" cxnId="{3F7665C6-05D1-4FE2-A4EE-D7EBB21838EE}">
      <dgm:prSet/>
      <dgm:spPr/>
      <dgm:t>
        <a:bodyPr/>
        <a:lstStyle/>
        <a:p>
          <a:endParaRPr lang="en-GB"/>
        </a:p>
      </dgm:t>
    </dgm:pt>
    <dgm:pt modelId="{1091F014-3140-41C3-B915-C7B4E8972E92}">
      <dgm:prSet phldrT="[Text]" custT="1"/>
      <dgm:spPr>
        <a:solidFill>
          <a:srgbClr val="00B0F0"/>
        </a:solidFill>
      </dgm:spPr>
      <dgm:t>
        <a:bodyPr/>
        <a:lstStyle/>
        <a:p>
          <a:r>
            <a:rPr lang="en-GB" sz="3600" dirty="0"/>
            <a:t>ERAS </a:t>
          </a:r>
          <a:r>
            <a:rPr lang="en-GB" sz="4000" dirty="0"/>
            <a:t>Recommendations</a:t>
          </a:r>
          <a:endParaRPr lang="en-GB" sz="1700" dirty="0"/>
        </a:p>
      </dgm:t>
    </dgm:pt>
    <dgm:pt modelId="{29132327-ACEF-4950-A51B-1344C6D22B6F}" type="parTrans" cxnId="{566D9749-8E0E-450E-8874-39F7DCA01343}">
      <dgm:prSet/>
      <dgm:spPr/>
      <dgm:t>
        <a:bodyPr/>
        <a:lstStyle/>
        <a:p>
          <a:endParaRPr lang="en-GB"/>
        </a:p>
      </dgm:t>
    </dgm:pt>
    <dgm:pt modelId="{A85E8310-42DB-4DC8-973A-48BB505C9F18}" type="sibTrans" cxnId="{566D9749-8E0E-450E-8874-39F7DCA01343}">
      <dgm:prSet/>
      <dgm:spPr/>
      <dgm:t>
        <a:bodyPr/>
        <a:lstStyle/>
        <a:p>
          <a:endParaRPr lang="en-GB"/>
        </a:p>
      </dgm:t>
    </dgm:pt>
    <dgm:pt modelId="{6C780CAD-18EA-4C1E-8608-8759972846D3}">
      <dgm:prSet phldrT="[Text]" custT="1"/>
      <dgm:spPr>
        <a:solidFill>
          <a:srgbClr val="7030A0"/>
        </a:solidFill>
      </dgm:spPr>
      <dgm:t>
        <a:bodyPr/>
        <a:lstStyle/>
        <a:p>
          <a:r>
            <a:rPr lang="en-GB" sz="4400" dirty="0"/>
            <a:t>Summary</a:t>
          </a:r>
          <a:endParaRPr lang="en-GB" sz="1700" dirty="0"/>
        </a:p>
      </dgm:t>
    </dgm:pt>
    <dgm:pt modelId="{3AB5175E-684C-439C-BFE9-A1546467B533}" type="parTrans" cxnId="{4FB8FD1B-2DC9-44C4-BFFB-6A9A529E61AD}">
      <dgm:prSet/>
      <dgm:spPr/>
      <dgm:t>
        <a:bodyPr/>
        <a:lstStyle/>
        <a:p>
          <a:endParaRPr lang="en-GB"/>
        </a:p>
      </dgm:t>
    </dgm:pt>
    <dgm:pt modelId="{30B4059F-4685-4EC3-A592-CB4E5AC9F220}" type="sibTrans" cxnId="{4FB8FD1B-2DC9-44C4-BFFB-6A9A529E61AD}">
      <dgm:prSet/>
      <dgm:spPr/>
      <dgm:t>
        <a:bodyPr/>
        <a:lstStyle/>
        <a:p>
          <a:endParaRPr lang="en-GB"/>
        </a:p>
      </dgm:t>
    </dgm:pt>
    <dgm:pt modelId="{67920307-16E9-42D8-BC06-579E0A886C38}" type="pres">
      <dgm:prSet presAssocID="{ECF4A3CF-656D-479B-99E0-1D15A0A2B5FC}" presName="Name0" presStyleCnt="0">
        <dgm:presLayoutVars>
          <dgm:resizeHandles/>
        </dgm:presLayoutVars>
      </dgm:prSet>
      <dgm:spPr/>
    </dgm:pt>
    <dgm:pt modelId="{E1A3196B-AA01-4F05-B96F-80565EC7CE5B}" type="pres">
      <dgm:prSet presAssocID="{834653B7-756E-4DFF-9210-D2EB8638BF87}" presName="text" presStyleLbl="node1" presStyleIdx="0" presStyleCnt="4" custScaleX="392857" custScaleY="26322" custLinFactY="2523" custLinFactNeighborX="0" custLinFactNeighborY="100000">
        <dgm:presLayoutVars>
          <dgm:bulletEnabled val="1"/>
        </dgm:presLayoutVars>
      </dgm:prSet>
      <dgm:spPr/>
    </dgm:pt>
    <dgm:pt modelId="{64B89EA4-1190-4376-9229-CADD37D01457}" type="pres">
      <dgm:prSet presAssocID="{66217C97-9EA3-4198-9E1E-8EE15AD84C07}" presName="space" presStyleCnt="0"/>
      <dgm:spPr/>
    </dgm:pt>
    <dgm:pt modelId="{3FC1B910-A512-46DD-A68A-449AE10F891D}" type="pres">
      <dgm:prSet presAssocID="{85DF0584-080F-4C4F-88C6-EBB6080D48F3}" presName="text" presStyleLbl="node1" presStyleIdx="1" presStyleCnt="4" custScaleX="297034" custScaleY="24954" custLinFactNeighborX="487" custLinFactNeighborY="40745">
        <dgm:presLayoutVars>
          <dgm:bulletEnabled val="1"/>
        </dgm:presLayoutVars>
      </dgm:prSet>
      <dgm:spPr/>
    </dgm:pt>
    <dgm:pt modelId="{D4315A91-1630-487C-BE28-49A8A851BCDC}" type="pres">
      <dgm:prSet presAssocID="{3DA09BC7-DAE1-42F2-A569-57662B5CB51E}" presName="space" presStyleCnt="0"/>
      <dgm:spPr/>
    </dgm:pt>
    <dgm:pt modelId="{0F8EE836-43A1-4ED8-A94B-401E996E8AEC}" type="pres">
      <dgm:prSet presAssocID="{1091F014-3140-41C3-B915-C7B4E8972E92}" presName="text" presStyleLbl="node1" presStyleIdx="2" presStyleCnt="4" custScaleX="166603" custScaleY="19965" custLinFactNeighborX="0" custLinFactNeighborY="-55314">
        <dgm:presLayoutVars>
          <dgm:bulletEnabled val="1"/>
        </dgm:presLayoutVars>
      </dgm:prSet>
      <dgm:spPr/>
    </dgm:pt>
    <dgm:pt modelId="{9E754681-0B27-47C5-862A-EA83759B2D70}" type="pres">
      <dgm:prSet presAssocID="{A85E8310-42DB-4DC8-973A-48BB505C9F18}" presName="space" presStyleCnt="0"/>
      <dgm:spPr/>
    </dgm:pt>
    <dgm:pt modelId="{70D98F23-DEEA-4C85-9994-72E1CCF6267D}" type="pres">
      <dgm:prSet presAssocID="{6C780CAD-18EA-4C1E-8608-8759972846D3}" presName="text" presStyleLbl="node1" presStyleIdx="3" presStyleCnt="4" custScaleX="166603" custScaleY="21349" custLinFactY="-2338" custLinFactNeighborX="0" custLinFactNeighborY="-100000">
        <dgm:presLayoutVars>
          <dgm:bulletEnabled val="1"/>
        </dgm:presLayoutVars>
      </dgm:prSet>
      <dgm:spPr/>
    </dgm:pt>
  </dgm:ptLst>
  <dgm:cxnLst>
    <dgm:cxn modelId="{4FB8FD1B-2DC9-44C4-BFFB-6A9A529E61AD}" srcId="{ECF4A3CF-656D-479B-99E0-1D15A0A2B5FC}" destId="{6C780CAD-18EA-4C1E-8608-8759972846D3}" srcOrd="3" destOrd="0" parTransId="{3AB5175E-684C-439C-BFE9-A1546467B533}" sibTransId="{30B4059F-4685-4EC3-A592-CB4E5AC9F220}"/>
    <dgm:cxn modelId="{566D9749-8E0E-450E-8874-39F7DCA01343}" srcId="{ECF4A3CF-656D-479B-99E0-1D15A0A2B5FC}" destId="{1091F014-3140-41C3-B915-C7B4E8972E92}" srcOrd="2" destOrd="0" parTransId="{29132327-ACEF-4950-A51B-1344C6D22B6F}" sibTransId="{A85E8310-42DB-4DC8-973A-48BB505C9F18}"/>
    <dgm:cxn modelId="{C1A79076-D020-4814-A501-DAECAC1F18CB}" type="presOf" srcId="{ECF4A3CF-656D-479B-99E0-1D15A0A2B5FC}" destId="{67920307-16E9-42D8-BC06-579E0A886C38}" srcOrd="0" destOrd="0" presId="urn:diagrams.loki3.com/VaryingWidthList"/>
    <dgm:cxn modelId="{78F39696-95B4-4AE8-8C12-DA45FDEA0522}" type="presOf" srcId="{85DF0584-080F-4C4F-88C6-EBB6080D48F3}" destId="{3FC1B910-A512-46DD-A68A-449AE10F891D}" srcOrd="0" destOrd="0" presId="urn:diagrams.loki3.com/VaryingWidthList"/>
    <dgm:cxn modelId="{8737DAB3-A618-470C-82B7-F5157884C14C}" srcId="{ECF4A3CF-656D-479B-99E0-1D15A0A2B5FC}" destId="{834653B7-756E-4DFF-9210-D2EB8638BF87}" srcOrd="0" destOrd="0" parTransId="{278B0A90-20C8-4D5F-AB54-C5F94E976321}" sibTransId="{66217C97-9EA3-4198-9E1E-8EE15AD84C07}"/>
    <dgm:cxn modelId="{04845DB4-B429-49F4-B0EE-4A973C7B5EF2}" type="presOf" srcId="{1091F014-3140-41C3-B915-C7B4E8972E92}" destId="{0F8EE836-43A1-4ED8-A94B-401E996E8AEC}" srcOrd="0" destOrd="0" presId="urn:diagrams.loki3.com/VaryingWidthList"/>
    <dgm:cxn modelId="{3F7665C6-05D1-4FE2-A4EE-D7EBB21838EE}" srcId="{ECF4A3CF-656D-479B-99E0-1D15A0A2B5FC}" destId="{85DF0584-080F-4C4F-88C6-EBB6080D48F3}" srcOrd="1" destOrd="0" parTransId="{E4594D44-4697-4237-A666-4FCD56A305D4}" sibTransId="{3DA09BC7-DAE1-42F2-A569-57662B5CB51E}"/>
    <dgm:cxn modelId="{32B216CD-81F4-439B-BA83-3A64E5EA9C30}" type="presOf" srcId="{6C780CAD-18EA-4C1E-8608-8759972846D3}" destId="{70D98F23-DEEA-4C85-9994-72E1CCF6267D}" srcOrd="0" destOrd="0" presId="urn:diagrams.loki3.com/VaryingWidthList"/>
    <dgm:cxn modelId="{EF42BBE3-4DDC-4200-9473-A225053D5516}" type="presOf" srcId="{834653B7-756E-4DFF-9210-D2EB8638BF87}" destId="{E1A3196B-AA01-4F05-B96F-80565EC7CE5B}" srcOrd="0" destOrd="0" presId="urn:diagrams.loki3.com/VaryingWidthList"/>
    <dgm:cxn modelId="{C760D703-7793-47C3-9492-3AFB4F9672F3}" type="presParOf" srcId="{67920307-16E9-42D8-BC06-579E0A886C38}" destId="{E1A3196B-AA01-4F05-B96F-80565EC7CE5B}" srcOrd="0" destOrd="0" presId="urn:diagrams.loki3.com/VaryingWidthList"/>
    <dgm:cxn modelId="{219DA939-4CB4-4128-9FCD-4E492F4213D2}" type="presParOf" srcId="{67920307-16E9-42D8-BC06-579E0A886C38}" destId="{64B89EA4-1190-4376-9229-CADD37D01457}" srcOrd="1" destOrd="0" presId="urn:diagrams.loki3.com/VaryingWidthList"/>
    <dgm:cxn modelId="{A5AEEB48-61BD-43C8-AF27-B420C9E0FF2A}" type="presParOf" srcId="{67920307-16E9-42D8-BC06-579E0A886C38}" destId="{3FC1B910-A512-46DD-A68A-449AE10F891D}" srcOrd="2" destOrd="0" presId="urn:diagrams.loki3.com/VaryingWidthList"/>
    <dgm:cxn modelId="{B129B78C-BE9A-4CCD-82C7-482C87412233}" type="presParOf" srcId="{67920307-16E9-42D8-BC06-579E0A886C38}" destId="{D4315A91-1630-487C-BE28-49A8A851BCDC}" srcOrd="3" destOrd="0" presId="urn:diagrams.loki3.com/VaryingWidthList"/>
    <dgm:cxn modelId="{A04E1F53-D221-4624-B058-661B3AC77335}" type="presParOf" srcId="{67920307-16E9-42D8-BC06-579E0A886C38}" destId="{0F8EE836-43A1-4ED8-A94B-401E996E8AEC}" srcOrd="4" destOrd="0" presId="urn:diagrams.loki3.com/VaryingWidthList"/>
    <dgm:cxn modelId="{3298E3BF-EDC1-4D1C-83AD-E3403111589C}" type="presParOf" srcId="{67920307-16E9-42D8-BC06-579E0A886C38}" destId="{9E754681-0B27-47C5-862A-EA83759B2D70}" srcOrd="5" destOrd="0" presId="urn:diagrams.loki3.com/VaryingWidthList"/>
    <dgm:cxn modelId="{4099B21C-30B2-4E09-A67E-F919C8AD93B4}" type="presParOf" srcId="{67920307-16E9-42D8-BC06-579E0A886C38}" destId="{70D98F23-DEEA-4C85-9994-72E1CCF6267D}" srcOrd="6" destOrd="0" presId="urn:diagrams.loki3.com/VaryingWidth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A3196B-AA01-4F05-B96F-80565EC7CE5B}">
      <dsp:nvSpPr>
        <dsp:cNvPr id="0" name=""/>
        <dsp:cNvSpPr/>
      </dsp:nvSpPr>
      <dsp:spPr>
        <a:xfrm>
          <a:off x="386752" y="383439"/>
          <a:ext cx="10430353" cy="1333968"/>
        </a:xfrm>
        <a:prstGeom prst="rect">
          <a:avLst/>
        </a:prstGeom>
        <a:solidFill>
          <a:srgbClr val="FFC000"/>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760" tIns="111760" rIns="111760" bIns="111760" numCol="1" spcCol="1270" anchor="ctr" anchorCtr="0">
          <a:noAutofit/>
        </a:bodyPr>
        <a:lstStyle/>
        <a:p>
          <a:pPr marL="0" lvl="0" indent="0" algn="ctr" defTabSz="1955800">
            <a:lnSpc>
              <a:spcPct val="90000"/>
            </a:lnSpc>
            <a:spcBef>
              <a:spcPct val="0"/>
            </a:spcBef>
            <a:spcAft>
              <a:spcPct val="35000"/>
            </a:spcAft>
            <a:buNone/>
          </a:pPr>
          <a:r>
            <a:rPr lang="en-GB" sz="4400" kern="1200" dirty="0"/>
            <a:t>Objectives</a:t>
          </a:r>
          <a:endParaRPr lang="en-GB" sz="3600" kern="1200" dirty="0"/>
        </a:p>
      </dsp:txBody>
      <dsp:txXfrm>
        <a:off x="386752" y="383439"/>
        <a:ext cx="10430353" cy="1333968"/>
      </dsp:txXfrm>
    </dsp:sp>
    <dsp:sp modelId="{3FC1B910-A512-46DD-A68A-449AE10F891D}">
      <dsp:nvSpPr>
        <dsp:cNvPr id="0" name=""/>
        <dsp:cNvSpPr/>
      </dsp:nvSpPr>
      <dsp:spPr>
        <a:xfrm>
          <a:off x="938984" y="1692791"/>
          <a:ext cx="9356570" cy="1264640"/>
        </a:xfrm>
        <a:prstGeom prst="rect">
          <a:avLst/>
        </a:prstGeom>
        <a:solidFill>
          <a:srgbClr val="00B050"/>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0" tIns="101600" rIns="101600" bIns="101600" numCol="1" spcCol="1270" anchor="ctr" anchorCtr="0">
          <a:noAutofit/>
        </a:bodyPr>
        <a:lstStyle/>
        <a:p>
          <a:pPr marL="0" lvl="0" indent="0" algn="ctr" defTabSz="1778000">
            <a:lnSpc>
              <a:spcPct val="90000"/>
            </a:lnSpc>
            <a:spcBef>
              <a:spcPct val="0"/>
            </a:spcBef>
            <a:spcAft>
              <a:spcPct val="35000"/>
            </a:spcAft>
            <a:buNone/>
          </a:pPr>
          <a:r>
            <a:rPr lang="en-GB" sz="4000" kern="1200" dirty="0"/>
            <a:t>Brainstorming</a:t>
          </a:r>
          <a:endParaRPr lang="en-GB" sz="1700" kern="1200" dirty="0"/>
        </a:p>
      </dsp:txBody>
      <dsp:txXfrm>
        <a:off x="938984" y="1692791"/>
        <a:ext cx="9356570" cy="1264640"/>
      </dsp:txXfrm>
    </dsp:sp>
    <dsp:sp modelId="{0F8EE836-43A1-4ED8-A94B-401E996E8AEC}">
      <dsp:nvSpPr>
        <dsp:cNvPr id="0" name=""/>
        <dsp:cNvSpPr/>
      </dsp:nvSpPr>
      <dsp:spPr>
        <a:xfrm>
          <a:off x="1253591" y="2967417"/>
          <a:ext cx="8696676" cy="1011803"/>
        </a:xfrm>
        <a:prstGeom prst="rect">
          <a:avLst/>
        </a:prstGeom>
        <a:solidFill>
          <a:srgbClr val="00B0F0"/>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600200">
            <a:lnSpc>
              <a:spcPct val="90000"/>
            </a:lnSpc>
            <a:spcBef>
              <a:spcPct val="0"/>
            </a:spcBef>
            <a:spcAft>
              <a:spcPct val="35000"/>
            </a:spcAft>
            <a:buNone/>
          </a:pPr>
          <a:r>
            <a:rPr lang="en-GB" sz="3600" kern="1200" dirty="0"/>
            <a:t>ERAS </a:t>
          </a:r>
          <a:r>
            <a:rPr lang="en-GB" sz="4000" kern="1200" dirty="0"/>
            <a:t>Recommendations</a:t>
          </a:r>
          <a:endParaRPr lang="en-GB" sz="1700" kern="1200" dirty="0"/>
        </a:p>
      </dsp:txBody>
      <dsp:txXfrm>
        <a:off x="1253591" y="2967417"/>
        <a:ext cx="8696676" cy="1011803"/>
      </dsp:txXfrm>
    </dsp:sp>
    <dsp:sp modelId="{70D98F23-DEEA-4C85-9994-72E1CCF6267D}">
      <dsp:nvSpPr>
        <dsp:cNvPr id="0" name=""/>
        <dsp:cNvSpPr/>
      </dsp:nvSpPr>
      <dsp:spPr>
        <a:xfrm>
          <a:off x="3615188" y="4000896"/>
          <a:ext cx="3973481" cy="1081942"/>
        </a:xfrm>
        <a:prstGeom prst="rect">
          <a:avLst/>
        </a:prstGeom>
        <a:solidFill>
          <a:srgbClr val="7030A0"/>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760" tIns="111760" rIns="111760" bIns="111760" numCol="1" spcCol="1270" anchor="ctr" anchorCtr="0">
          <a:noAutofit/>
        </a:bodyPr>
        <a:lstStyle/>
        <a:p>
          <a:pPr marL="0" lvl="0" indent="0" algn="ctr" defTabSz="1955800">
            <a:lnSpc>
              <a:spcPct val="90000"/>
            </a:lnSpc>
            <a:spcBef>
              <a:spcPct val="0"/>
            </a:spcBef>
            <a:spcAft>
              <a:spcPct val="35000"/>
            </a:spcAft>
            <a:buNone/>
          </a:pPr>
          <a:r>
            <a:rPr lang="en-GB" sz="4400" kern="1200" dirty="0"/>
            <a:t>Summary</a:t>
          </a:r>
          <a:endParaRPr lang="en-GB" sz="1700" kern="1200" dirty="0"/>
        </a:p>
      </dsp:txBody>
      <dsp:txXfrm>
        <a:off x="3615188" y="4000896"/>
        <a:ext cx="3973481" cy="1081942"/>
      </dsp:txXfrm>
    </dsp:sp>
  </dsp:spTree>
</dsp:drawing>
</file>

<file path=ppt/diagrams/layout1.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emf"/><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0.png"/><Relationship Id="rId4"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0" name="Freeform 5"/>
          <p:cNvSpPr>
            <a:spLocks/>
          </p:cNvSpPr>
          <p:nvPr/>
        </p:nvSpPr>
        <p:spPr bwMode="auto">
          <a:xfrm>
            <a:off x="2" y="3"/>
            <a:ext cx="11077303" cy="6093959"/>
          </a:xfrm>
          <a:custGeom>
            <a:avLst/>
            <a:gdLst>
              <a:gd name="T0" fmla="*/ 0 w 2616"/>
              <a:gd name="T1" fmla="*/ 0 h 1918"/>
              <a:gd name="T2" fmla="*/ 0 w 2616"/>
              <a:gd name="T3" fmla="*/ 1893 h 1918"/>
              <a:gd name="T4" fmla="*/ 441 w 2616"/>
              <a:gd name="T5" fmla="*/ 1915 h 1918"/>
              <a:gd name="T6" fmla="*/ 986 w 2616"/>
              <a:gd name="T7" fmla="*/ 1839 h 1918"/>
              <a:gd name="T8" fmla="*/ 1612 w 2616"/>
              <a:gd name="T9" fmla="*/ 1581 h 1918"/>
              <a:gd name="T10" fmla="*/ 2173 w 2616"/>
              <a:gd name="T11" fmla="*/ 1105 h 1918"/>
              <a:gd name="T12" fmla="*/ 2543 w 2616"/>
              <a:gd name="T13" fmla="*/ 372 h 1918"/>
              <a:gd name="T14" fmla="*/ 2616 w 2616"/>
              <a:gd name="T15" fmla="*/ 0 h 1918"/>
              <a:gd name="T16" fmla="*/ 0 w 2616"/>
              <a:gd name="T17" fmla="*/ 0 h 1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16" h="1918">
                <a:moveTo>
                  <a:pt x="0" y="0"/>
                </a:moveTo>
                <a:cubicBezTo>
                  <a:pt x="0" y="1893"/>
                  <a:pt x="0" y="1893"/>
                  <a:pt x="0" y="1893"/>
                </a:cubicBezTo>
                <a:cubicBezTo>
                  <a:pt x="240" y="1918"/>
                  <a:pt x="441" y="1915"/>
                  <a:pt x="441" y="1915"/>
                </a:cubicBezTo>
                <a:cubicBezTo>
                  <a:pt x="594" y="1915"/>
                  <a:pt x="775" y="1890"/>
                  <a:pt x="986" y="1839"/>
                </a:cubicBezTo>
                <a:cubicBezTo>
                  <a:pt x="1197" y="1787"/>
                  <a:pt x="1405" y="1702"/>
                  <a:pt x="1612" y="1581"/>
                </a:cubicBezTo>
                <a:cubicBezTo>
                  <a:pt x="1819" y="1461"/>
                  <a:pt x="2006" y="1303"/>
                  <a:pt x="2173" y="1105"/>
                </a:cubicBezTo>
                <a:cubicBezTo>
                  <a:pt x="2339" y="908"/>
                  <a:pt x="2464" y="664"/>
                  <a:pt x="2543" y="372"/>
                </a:cubicBezTo>
                <a:cubicBezTo>
                  <a:pt x="2574" y="257"/>
                  <a:pt x="2598" y="133"/>
                  <a:pt x="2616" y="0"/>
                </a:cubicBezTo>
                <a:lnTo>
                  <a:pt x="0" y="0"/>
                </a:lnTo>
                <a:close/>
              </a:path>
            </a:pathLst>
          </a:custGeom>
          <a:solidFill>
            <a:srgbClr val="002060"/>
          </a:solidFill>
          <a:ln>
            <a:noFill/>
          </a:ln>
        </p:spPr>
        <p:txBody>
          <a:bodyPr vert="horz" wrap="square" lIns="91440" tIns="45720" rIns="91440" bIns="45720" numCol="1" anchor="t" anchorCtr="0" compatLnSpc="1">
            <a:prstTxWarp prst="textNoShape">
              <a:avLst/>
            </a:prstTxWarp>
          </a:bodyPr>
          <a:lstStyle/>
          <a:p>
            <a:endParaRPr lang="en-IE" sz="1800"/>
          </a:p>
        </p:txBody>
      </p:sp>
      <p:pic>
        <p:nvPicPr>
          <p:cNvPr id="11" name="Picture 10"/>
          <p:cNvPicPr/>
          <p:nvPr/>
        </p:nvPicPr>
        <p:blipFill>
          <a:blip r:embed="rId2" cstate="print">
            <a:extLst>
              <a:ext uri="{28A0092B-C50C-407E-A947-70E740481C1C}">
                <a14:useLocalDpi xmlns:a14="http://schemas.microsoft.com/office/drawing/2010/main" val="0"/>
              </a:ext>
            </a:extLst>
          </a:blip>
          <a:stretch>
            <a:fillRect/>
          </a:stretch>
        </p:blipFill>
        <p:spPr>
          <a:xfrm>
            <a:off x="76200" y="6172200"/>
            <a:ext cx="746200" cy="678951"/>
          </a:xfrm>
          <a:prstGeom prst="rect">
            <a:avLst/>
          </a:prstGeom>
        </p:spPr>
      </p:pic>
      <p:sp>
        <p:nvSpPr>
          <p:cNvPr id="2" name="Rectangle 1"/>
          <p:cNvSpPr/>
          <p:nvPr/>
        </p:nvSpPr>
        <p:spPr>
          <a:xfrm>
            <a:off x="0" y="0"/>
            <a:ext cx="12192000" cy="838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6" name="Picture 15"/>
          <p:cNvPicPr>
            <a:picLocks noChangeAspect="1"/>
          </p:cNvPicPr>
          <p:nvPr/>
        </p:nvPicPr>
        <p:blipFill rotWithShape="1">
          <a:blip r:embed="rId3">
            <a:extLst>
              <a:ext uri="{28A0092B-C50C-407E-A947-70E740481C1C}">
                <a14:useLocalDpi xmlns:a14="http://schemas.microsoft.com/office/drawing/2010/main" val="0"/>
              </a:ext>
            </a:extLst>
          </a:blip>
          <a:srcRect l="1882" t="8183" r="73587"/>
          <a:stretch/>
        </p:blipFill>
        <p:spPr>
          <a:xfrm>
            <a:off x="1018904" y="0"/>
            <a:ext cx="1016592" cy="762000"/>
          </a:xfrm>
          <a:prstGeom prst="rect">
            <a:avLst/>
          </a:prstGeom>
        </p:spPr>
      </p:pic>
      <p:pic>
        <p:nvPicPr>
          <p:cNvPr id="17" name="Picture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52800" y="76200"/>
            <a:ext cx="812800" cy="609600"/>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84802" y="152400"/>
            <a:ext cx="2683353" cy="609600"/>
          </a:xfrm>
          <a:prstGeom prst="rect">
            <a:avLst/>
          </a:prstGeom>
        </p:spPr>
      </p:pic>
      <p:sp>
        <p:nvSpPr>
          <p:cNvPr id="19" name="Freeform 5"/>
          <p:cNvSpPr>
            <a:spLocks/>
          </p:cNvSpPr>
          <p:nvPr/>
        </p:nvSpPr>
        <p:spPr bwMode="auto">
          <a:xfrm>
            <a:off x="2" y="3"/>
            <a:ext cx="11077303" cy="6093959"/>
          </a:xfrm>
          <a:custGeom>
            <a:avLst/>
            <a:gdLst>
              <a:gd name="T0" fmla="*/ 0 w 2616"/>
              <a:gd name="T1" fmla="*/ 0 h 1918"/>
              <a:gd name="T2" fmla="*/ 0 w 2616"/>
              <a:gd name="T3" fmla="*/ 1893 h 1918"/>
              <a:gd name="T4" fmla="*/ 441 w 2616"/>
              <a:gd name="T5" fmla="*/ 1915 h 1918"/>
              <a:gd name="T6" fmla="*/ 986 w 2616"/>
              <a:gd name="T7" fmla="*/ 1839 h 1918"/>
              <a:gd name="T8" fmla="*/ 1612 w 2616"/>
              <a:gd name="T9" fmla="*/ 1581 h 1918"/>
              <a:gd name="T10" fmla="*/ 2173 w 2616"/>
              <a:gd name="T11" fmla="*/ 1105 h 1918"/>
              <a:gd name="T12" fmla="*/ 2543 w 2616"/>
              <a:gd name="T13" fmla="*/ 372 h 1918"/>
              <a:gd name="T14" fmla="*/ 2616 w 2616"/>
              <a:gd name="T15" fmla="*/ 0 h 1918"/>
              <a:gd name="T16" fmla="*/ 0 w 2616"/>
              <a:gd name="T17" fmla="*/ 0 h 1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16" h="1918">
                <a:moveTo>
                  <a:pt x="0" y="0"/>
                </a:moveTo>
                <a:cubicBezTo>
                  <a:pt x="0" y="1893"/>
                  <a:pt x="0" y="1893"/>
                  <a:pt x="0" y="1893"/>
                </a:cubicBezTo>
                <a:cubicBezTo>
                  <a:pt x="240" y="1918"/>
                  <a:pt x="441" y="1915"/>
                  <a:pt x="441" y="1915"/>
                </a:cubicBezTo>
                <a:cubicBezTo>
                  <a:pt x="594" y="1915"/>
                  <a:pt x="775" y="1890"/>
                  <a:pt x="986" y="1839"/>
                </a:cubicBezTo>
                <a:cubicBezTo>
                  <a:pt x="1197" y="1787"/>
                  <a:pt x="1405" y="1702"/>
                  <a:pt x="1612" y="1581"/>
                </a:cubicBezTo>
                <a:cubicBezTo>
                  <a:pt x="1819" y="1461"/>
                  <a:pt x="2006" y="1303"/>
                  <a:pt x="2173" y="1105"/>
                </a:cubicBezTo>
                <a:cubicBezTo>
                  <a:pt x="2339" y="908"/>
                  <a:pt x="2464" y="664"/>
                  <a:pt x="2543" y="372"/>
                </a:cubicBezTo>
                <a:cubicBezTo>
                  <a:pt x="2574" y="257"/>
                  <a:pt x="2598" y="133"/>
                  <a:pt x="2616" y="0"/>
                </a:cubicBezTo>
                <a:lnTo>
                  <a:pt x="0" y="0"/>
                </a:lnTo>
                <a:close/>
              </a:path>
            </a:pathLst>
          </a:custGeom>
          <a:solidFill>
            <a:srgbClr val="002060"/>
          </a:solidFill>
          <a:ln>
            <a:noFill/>
          </a:ln>
        </p:spPr>
        <p:txBody>
          <a:bodyPr vert="horz" wrap="square" lIns="91440" tIns="45720" rIns="91440" bIns="45720" numCol="1" anchor="t" anchorCtr="0" compatLnSpc="1">
            <a:prstTxWarp prst="textNoShape">
              <a:avLst/>
            </a:prstTxWarp>
          </a:bodyPr>
          <a:lstStyle/>
          <a:p>
            <a:endParaRPr lang="en-IE" sz="1800"/>
          </a:p>
        </p:txBody>
      </p:sp>
      <p:pic>
        <p:nvPicPr>
          <p:cNvPr id="21" name="Picture 20"/>
          <p:cNvPicPr>
            <a:picLocks noChangeAspect="1"/>
          </p:cNvPicPr>
          <p:nvPr/>
        </p:nvPicPr>
        <p:blipFill rotWithShape="1">
          <a:blip r:embed="rId3">
            <a:extLst>
              <a:ext uri="{28A0092B-C50C-407E-A947-70E740481C1C}">
                <a14:useLocalDpi xmlns:a14="http://schemas.microsoft.com/office/drawing/2010/main" val="0"/>
              </a:ext>
            </a:extLst>
          </a:blip>
          <a:srcRect l="1882" t="8183" r="73587"/>
          <a:stretch/>
        </p:blipFill>
        <p:spPr>
          <a:xfrm>
            <a:off x="8743957" y="4882940"/>
            <a:ext cx="793839" cy="793838"/>
          </a:xfrm>
          <a:prstGeom prst="rect">
            <a:avLst/>
          </a:prstGeom>
        </p:spPr>
      </p:pic>
      <p:pic>
        <p:nvPicPr>
          <p:cNvPr id="1026" name="Picture 2" descr="Orphans and Vulnerable Children ...">
            <a:extLst>
              <a:ext uri="{FF2B5EF4-FFF2-40B4-BE49-F238E27FC236}">
                <a16:creationId xmlns:a16="http://schemas.microsoft.com/office/drawing/2014/main" id="{1DBA8995-AB41-C3D1-B548-F8849FD91EE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9776" t="15958" r="7542" b="15957"/>
          <a:stretch/>
        </p:blipFill>
        <p:spPr bwMode="auto">
          <a:xfrm>
            <a:off x="9832757" y="4872681"/>
            <a:ext cx="2362200" cy="76611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inistry of Education (Ethiopia ...">
            <a:extLst>
              <a:ext uri="{FF2B5EF4-FFF2-40B4-BE49-F238E27FC236}">
                <a16:creationId xmlns:a16="http://schemas.microsoft.com/office/drawing/2014/main" id="{F4262BB1-9278-CEFC-1C97-78B8086F6A7C}"/>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0889" t="10889" r="10889" b="10889"/>
          <a:stretch/>
        </p:blipFill>
        <p:spPr bwMode="auto">
          <a:xfrm>
            <a:off x="7610795" y="4921162"/>
            <a:ext cx="793839" cy="793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3771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GB"/>
              <a:t>Click to edit Master title style</a:t>
            </a:r>
            <a:endParaRPr kumimoji="0"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GB"/>
              <a:t>Click to edit Master text styles</a:t>
            </a:r>
          </a:p>
          <a:p>
            <a:pPr lvl="1" eaLnBrk="1" latinLnBrk="0" hangingPunct="1"/>
            <a:r>
              <a:rPr lang="en-GB"/>
              <a:t>Second level</a:t>
            </a:r>
          </a:p>
          <a:p>
            <a:pPr lvl="2" eaLnBrk="1" latinLnBrk="0" hangingPunct="1"/>
            <a:r>
              <a:rPr lang="en-GB"/>
              <a:t>Third level</a:t>
            </a:r>
          </a:p>
          <a:p>
            <a:pPr lvl="3" eaLnBrk="1" latinLnBrk="0" hangingPunct="1"/>
            <a:r>
              <a:rPr lang="en-GB"/>
              <a:t>Fourth level</a:t>
            </a:r>
          </a:p>
          <a:p>
            <a:pPr lvl="4" eaLnBrk="1" latinLnBrk="0" hangingPunct="1"/>
            <a:r>
              <a:rPr lang="en-GB"/>
              <a:t>Fifth level</a:t>
            </a:r>
            <a:endParaRPr kumimoji="0" lang="en-US" dirty="0"/>
          </a:p>
        </p:txBody>
      </p:sp>
      <p:grpSp>
        <p:nvGrpSpPr>
          <p:cNvPr id="7" name="Group 4"/>
          <p:cNvGrpSpPr>
            <a:grpSpLocks noChangeAspect="1"/>
          </p:cNvGrpSpPr>
          <p:nvPr/>
        </p:nvGrpSpPr>
        <p:grpSpPr bwMode="auto">
          <a:xfrm>
            <a:off x="10113556" y="0"/>
            <a:ext cx="2078445" cy="3787669"/>
            <a:chOff x="2304" y="757"/>
            <a:chExt cx="1154" cy="2804"/>
          </a:xfrm>
          <a:solidFill>
            <a:schemeClr val="accent2"/>
          </a:solidFill>
        </p:grpSpPr>
        <p:sp>
          <p:nvSpPr>
            <p:cNvPr id="9" name="Freeform 5"/>
            <p:cNvSpPr>
              <a:spLocks/>
            </p:cNvSpPr>
            <p:nvPr/>
          </p:nvSpPr>
          <p:spPr bwMode="auto">
            <a:xfrm>
              <a:off x="2304" y="757"/>
              <a:ext cx="1154" cy="474"/>
            </a:xfrm>
            <a:custGeom>
              <a:avLst/>
              <a:gdLst>
                <a:gd name="T0" fmla="*/ 166 w 485"/>
                <a:gd name="T1" fmla="*/ 142 h 200"/>
                <a:gd name="T2" fmla="*/ 485 w 485"/>
                <a:gd name="T3" fmla="*/ 176 h 200"/>
                <a:gd name="T4" fmla="*/ 485 w 485"/>
                <a:gd name="T5" fmla="*/ 0 h 200"/>
                <a:gd name="T6" fmla="*/ 0 w 485"/>
                <a:gd name="T7" fmla="*/ 0 h 200"/>
                <a:gd name="T8" fmla="*/ 166 w 485"/>
                <a:gd name="T9" fmla="*/ 142 h 200"/>
              </a:gdLst>
              <a:ahLst/>
              <a:cxnLst>
                <a:cxn ang="0">
                  <a:pos x="T0" y="T1"/>
                </a:cxn>
                <a:cxn ang="0">
                  <a:pos x="T2" y="T3"/>
                </a:cxn>
                <a:cxn ang="0">
                  <a:pos x="T4" y="T5"/>
                </a:cxn>
                <a:cxn ang="0">
                  <a:pos x="T6" y="T7"/>
                </a:cxn>
                <a:cxn ang="0">
                  <a:pos x="T8" y="T9"/>
                </a:cxn>
              </a:cxnLst>
              <a:rect l="0" t="0" r="r" b="b"/>
              <a:pathLst>
                <a:path w="485" h="200">
                  <a:moveTo>
                    <a:pt x="166" y="142"/>
                  </a:moveTo>
                  <a:cubicBezTo>
                    <a:pt x="266" y="188"/>
                    <a:pt x="372" y="200"/>
                    <a:pt x="485" y="176"/>
                  </a:cubicBezTo>
                  <a:cubicBezTo>
                    <a:pt x="485" y="0"/>
                    <a:pt x="485" y="0"/>
                    <a:pt x="485" y="0"/>
                  </a:cubicBezTo>
                  <a:cubicBezTo>
                    <a:pt x="0" y="0"/>
                    <a:pt x="0" y="0"/>
                    <a:pt x="0" y="0"/>
                  </a:cubicBezTo>
                  <a:cubicBezTo>
                    <a:pt x="42" y="62"/>
                    <a:pt x="98" y="110"/>
                    <a:pt x="166" y="14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sz="1800"/>
            </a:p>
          </p:txBody>
        </p:sp>
        <p:sp>
          <p:nvSpPr>
            <p:cNvPr id="10" name="Freeform 6"/>
            <p:cNvSpPr>
              <a:spLocks/>
            </p:cNvSpPr>
            <p:nvPr/>
          </p:nvSpPr>
          <p:spPr bwMode="auto">
            <a:xfrm>
              <a:off x="2675" y="1565"/>
              <a:ext cx="783" cy="1996"/>
            </a:xfrm>
            <a:custGeom>
              <a:avLst/>
              <a:gdLst>
                <a:gd name="T0" fmla="*/ 329 w 329"/>
                <a:gd name="T1" fmla="*/ 0 h 843"/>
                <a:gd name="T2" fmla="*/ 65 w 329"/>
                <a:gd name="T3" fmla="*/ 541 h 843"/>
                <a:gd name="T4" fmla="*/ 329 w 329"/>
                <a:gd name="T5" fmla="*/ 843 h 843"/>
                <a:gd name="T6" fmla="*/ 329 w 329"/>
                <a:gd name="T7" fmla="*/ 0 h 843"/>
              </a:gdLst>
              <a:ahLst/>
              <a:cxnLst>
                <a:cxn ang="0">
                  <a:pos x="T0" y="T1"/>
                </a:cxn>
                <a:cxn ang="0">
                  <a:pos x="T2" y="T3"/>
                </a:cxn>
                <a:cxn ang="0">
                  <a:pos x="T4" y="T5"/>
                </a:cxn>
                <a:cxn ang="0">
                  <a:pos x="T6" y="T7"/>
                </a:cxn>
              </a:cxnLst>
              <a:rect l="0" t="0" r="r" b="b"/>
              <a:pathLst>
                <a:path w="329" h="843">
                  <a:moveTo>
                    <a:pt x="329" y="0"/>
                  </a:moveTo>
                  <a:cubicBezTo>
                    <a:pt x="118" y="96"/>
                    <a:pt x="0" y="318"/>
                    <a:pt x="65" y="541"/>
                  </a:cubicBezTo>
                  <a:cubicBezTo>
                    <a:pt x="105" y="679"/>
                    <a:pt x="196" y="791"/>
                    <a:pt x="329" y="843"/>
                  </a:cubicBezTo>
                  <a:lnTo>
                    <a:pt x="329"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sz="1800"/>
            </a:p>
          </p:txBody>
        </p:sp>
      </p:grpSp>
      <p:grpSp>
        <p:nvGrpSpPr>
          <p:cNvPr id="11" name="Group 4"/>
          <p:cNvGrpSpPr>
            <a:grpSpLocks noChangeAspect="1"/>
          </p:cNvGrpSpPr>
          <p:nvPr/>
        </p:nvGrpSpPr>
        <p:grpSpPr bwMode="auto">
          <a:xfrm>
            <a:off x="10113556" y="0"/>
            <a:ext cx="2078445" cy="3787669"/>
            <a:chOff x="2304" y="757"/>
            <a:chExt cx="1154" cy="2804"/>
          </a:xfrm>
          <a:solidFill>
            <a:schemeClr val="accent2"/>
          </a:solidFill>
        </p:grpSpPr>
        <p:sp>
          <p:nvSpPr>
            <p:cNvPr id="12" name="Freeform 5"/>
            <p:cNvSpPr>
              <a:spLocks/>
            </p:cNvSpPr>
            <p:nvPr/>
          </p:nvSpPr>
          <p:spPr bwMode="auto">
            <a:xfrm>
              <a:off x="2304" y="757"/>
              <a:ext cx="1154" cy="474"/>
            </a:xfrm>
            <a:custGeom>
              <a:avLst/>
              <a:gdLst>
                <a:gd name="T0" fmla="*/ 166 w 485"/>
                <a:gd name="T1" fmla="*/ 142 h 200"/>
                <a:gd name="T2" fmla="*/ 485 w 485"/>
                <a:gd name="T3" fmla="*/ 176 h 200"/>
                <a:gd name="T4" fmla="*/ 485 w 485"/>
                <a:gd name="T5" fmla="*/ 0 h 200"/>
                <a:gd name="T6" fmla="*/ 0 w 485"/>
                <a:gd name="T7" fmla="*/ 0 h 200"/>
                <a:gd name="T8" fmla="*/ 166 w 485"/>
                <a:gd name="T9" fmla="*/ 142 h 200"/>
              </a:gdLst>
              <a:ahLst/>
              <a:cxnLst>
                <a:cxn ang="0">
                  <a:pos x="T0" y="T1"/>
                </a:cxn>
                <a:cxn ang="0">
                  <a:pos x="T2" y="T3"/>
                </a:cxn>
                <a:cxn ang="0">
                  <a:pos x="T4" y="T5"/>
                </a:cxn>
                <a:cxn ang="0">
                  <a:pos x="T6" y="T7"/>
                </a:cxn>
                <a:cxn ang="0">
                  <a:pos x="T8" y="T9"/>
                </a:cxn>
              </a:cxnLst>
              <a:rect l="0" t="0" r="r" b="b"/>
              <a:pathLst>
                <a:path w="485" h="200">
                  <a:moveTo>
                    <a:pt x="166" y="142"/>
                  </a:moveTo>
                  <a:cubicBezTo>
                    <a:pt x="266" y="188"/>
                    <a:pt x="372" y="200"/>
                    <a:pt x="485" y="176"/>
                  </a:cubicBezTo>
                  <a:cubicBezTo>
                    <a:pt x="485" y="0"/>
                    <a:pt x="485" y="0"/>
                    <a:pt x="485" y="0"/>
                  </a:cubicBezTo>
                  <a:cubicBezTo>
                    <a:pt x="0" y="0"/>
                    <a:pt x="0" y="0"/>
                    <a:pt x="0" y="0"/>
                  </a:cubicBezTo>
                  <a:cubicBezTo>
                    <a:pt x="42" y="62"/>
                    <a:pt x="98" y="110"/>
                    <a:pt x="166" y="14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sz="1800"/>
            </a:p>
          </p:txBody>
        </p:sp>
        <p:sp>
          <p:nvSpPr>
            <p:cNvPr id="13" name="Freeform 6"/>
            <p:cNvSpPr>
              <a:spLocks/>
            </p:cNvSpPr>
            <p:nvPr/>
          </p:nvSpPr>
          <p:spPr bwMode="auto">
            <a:xfrm>
              <a:off x="2675" y="1565"/>
              <a:ext cx="783" cy="1996"/>
            </a:xfrm>
            <a:custGeom>
              <a:avLst/>
              <a:gdLst>
                <a:gd name="T0" fmla="*/ 329 w 329"/>
                <a:gd name="T1" fmla="*/ 0 h 843"/>
                <a:gd name="T2" fmla="*/ 65 w 329"/>
                <a:gd name="T3" fmla="*/ 541 h 843"/>
                <a:gd name="T4" fmla="*/ 329 w 329"/>
                <a:gd name="T5" fmla="*/ 843 h 843"/>
                <a:gd name="T6" fmla="*/ 329 w 329"/>
                <a:gd name="T7" fmla="*/ 0 h 843"/>
              </a:gdLst>
              <a:ahLst/>
              <a:cxnLst>
                <a:cxn ang="0">
                  <a:pos x="T0" y="T1"/>
                </a:cxn>
                <a:cxn ang="0">
                  <a:pos x="T2" y="T3"/>
                </a:cxn>
                <a:cxn ang="0">
                  <a:pos x="T4" y="T5"/>
                </a:cxn>
                <a:cxn ang="0">
                  <a:pos x="T6" y="T7"/>
                </a:cxn>
              </a:cxnLst>
              <a:rect l="0" t="0" r="r" b="b"/>
              <a:pathLst>
                <a:path w="329" h="843">
                  <a:moveTo>
                    <a:pt x="329" y="0"/>
                  </a:moveTo>
                  <a:cubicBezTo>
                    <a:pt x="118" y="96"/>
                    <a:pt x="0" y="318"/>
                    <a:pt x="65" y="541"/>
                  </a:cubicBezTo>
                  <a:cubicBezTo>
                    <a:pt x="105" y="679"/>
                    <a:pt x="196" y="791"/>
                    <a:pt x="329" y="843"/>
                  </a:cubicBezTo>
                  <a:lnTo>
                    <a:pt x="329"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sz="1800"/>
            </a:p>
          </p:txBody>
        </p:sp>
      </p:grpSp>
    </p:spTree>
    <p:extLst>
      <p:ext uri="{BB962C8B-B14F-4D97-AF65-F5344CB8AC3E}">
        <p14:creationId xmlns:p14="http://schemas.microsoft.com/office/powerpoint/2010/main" val="2128939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GB"/>
              <a:t>Click to edit Master title style</a:t>
            </a:r>
            <a:endParaRPr kumimoji="0" lang="en-US"/>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GB"/>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fld id="{846CE7D5-CF57-46EF-B807-FDD0502418D4}" type="datetimeFigureOut">
              <a:rPr lang="en-US" smtClean="0"/>
              <a:t>3/7/2026</a:t>
            </a:fld>
            <a:endParaRPr lang="en-US"/>
          </a:p>
        </p:txBody>
      </p:sp>
      <p:sp>
        <p:nvSpPr>
          <p:cNvPr id="5" name="Footer Placeholder 4"/>
          <p:cNvSpPr>
            <a:spLocks noGrp="1"/>
          </p:cNvSpPr>
          <p:nvPr>
            <p:ph type="ftr" sz="quarter" idx="11"/>
          </p:nvPr>
        </p:nvSpPr>
        <p:spPr>
          <a:xfrm>
            <a:off x="3864864" y="6355080"/>
            <a:ext cx="4632960" cy="365760"/>
          </a:xfrm>
        </p:spPr>
        <p:txBody>
          <a:bodyPr/>
          <a:lstStyle/>
          <a:p>
            <a:endParaRPr lang="en-US"/>
          </a:p>
        </p:txBody>
      </p:sp>
      <p:sp>
        <p:nvSpPr>
          <p:cNvPr id="6" name="Slide Number Placeholder 5"/>
          <p:cNvSpPr>
            <a:spLocks noGrp="1"/>
          </p:cNvSpPr>
          <p:nvPr>
            <p:ph type="sldNum" sz="quarter" idx="12"/>
          </p:nvPr>
        </p:nvSpPr>
        <p:spPr>
          <a:xfrm>
            <a:off x="1426464" y="6355080"/>
            <a:ext cx="2027936" cy="365760"/>
          </a:xfrm>
        </p:spPr>
        <p:txBody>
          <a:bodyPr/>
          <a:lstStyle/>
          <a:p>
            <a:fld id="{330EA680-D336-4FF7-8B7A-9848BB0A1C32}" type="slidenum">
              <a:rPr lang="en-US" smtClean="0"/>
              <a:t>‹#›</a:t>
            </a:fld>
            <a:endParaRPr lang="en-US"/>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extLst>
      <p:ext uri="{BB962C8B-B14F-4D97-AF65-F5344CB8AC3E}">
        <p14:creationId xmlns:p14="http://schemas.microsoft.com/office/powerpoint/2010/main" val="69708326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GB"/>
              <a:t>Click to edit Master title style</a:t>
            </a:r>
            <a:endParaRPr kumimoji="0" lang="en-US"/>
          </a:p>
        </p:txBody>
      </p:sp>
      <p:sp>
        <p:nvSpPr>
          <p:cNvPr id="5" name="Date Placeholder 4"/>
          <p:cNvSpPr>
            <a:spLocks noGrp="1"/>
          </p:cNvSpPr>
          <p:nvPr>
            <p:ph type="dt" sz="half" idx="10"/>
          </p:nvPr>
        </p:nvSpPr>
        <p:spPr/>
        <p:txBody>
          <a:bodyPr/>
          <a:lstStyle/>
          <a:p>
            <a:fld id="{846CE7D5-CF57-46EF-B807-FDD0502418D4}" type="datetimeFigureOut">
              <a:rPr lang="en-US" smtClean="0"/>
              <a:t>3/7/2026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GB"/>
              <a:t>Click to edit Master text styles</a:t>
            </a:r>
          </a:p>
          <a:p>
            <a:pPr lvl="1" eaLnBrk="1" latinLnBrk="0" hangingPunct="1"/>
            <a:r>
              <a:rPr lang="en-GB"/>
              <a:t>Second level</a:t>
            </a:r>
          </a:p>
          <a:p>
            <a:pPr lvl="2" eaLnBrk="1" latinLnBrk="0" hangingPunct="1"/>
            <a:r>
              <a:rPr lang="en-GB"/>
              <a:t>Third level</a:t>
            </a:r>
          </a:p>
          <a:p>
            <a:pPr lvl="3" eaLnBrk="1" latinLnBrk="0" hangingPunct="1"/>
            <a:r>
              <a:rPr lang="en-GB"/>
              <a:t>Fourth level</a:t>
            </a:r>
          </a:p>
          <a:p>
            <a:pPr lvl="4" eaLnBrk="1" latinLnBrk="0" hangingPunct="1"/>
            <a:r>
              <a:rPr lang="en-GB"/>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GB"/>
              <a:t>Click to edit Master text styles</a:t>
            </a:r>
          </a:p>
          <a:p>
            <a:pPr lvl="1" eaLnBrk="1" latinLnBrk="0" hangingPunct="1"/>
            <a:r>
              <a:rPr lang="en-GB"/>
              <a:t>Second level</a:t>
            </a:r>
          </a:p>
          <a:p>
            <a:pPr lvl="2" eaLnBrk="1" latinLnBrk="0" hangingPunct="1"/>
            <a:r>
              <a:rPr lang="en-GB"/>
              <a:t>Third level</a:t>
            </a:r>
          </a:p>
          <a:p>
            <a:pPr lvl="3" eaLnBrk="1" latinLnBrk="0" hangingPunct="1"/>
            <a:r>
              <a:rPr lang="en-GB"/>
              <a:t>Fourth level</a:t>
            </a:r>
          </a:p>
          <a:p>
            <a:pPr lvl="4" eaLnBrk="1" latinLnBrk="0" hangingPunct="1"/>
            <a:r>
              <a:rPr lang="en-GB"/>
              <a:t>Fifth level</a:t>
            </a:r>
            <a:endParaRPr kumimoji="0" lang="en-US"/>
          </a:p>
        </p:txBody>
      </p:sp>
    </p:spTree>
    <p:extLst>
      <p:ext uri="{BB962C8B-B14F-4D97-AF65-F5344CB8AC3E}">
        <p14:creationId xmlns:p14="http://schemas.microsoft.com/office/powerpoint/2010/main" val="156196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GB"/>
              <a:t>Click to edit Master title style</a:t>
            </a:r>
            <a:endParaRPr kumimoji="0" lang="en-US"/>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GB"/>
              <a:t>Click to edit Master text styles</a:t>
            </a:r>
          </a:p>
        </p:txBody>
      </p:sp>
      <p:sp>
        <p:nvSpPr>
          <p:cNvPr id="4" name="Text Placeholder 3"/>
          <p:cNvSpPr>
            <a:spLocks noGrp="1"/>
          </p:cNvSpPr>
          <p:nvPr>
            <p:ph type="body" sz="half" idx="3"/>
          </p:nvPr>
        </p:nvSpPr>
        <p:spPr>
          <a:xfrm>
            <a:off x="6197602"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GB"/>
              <a:t>Click to edit Master text styles</a:t>
            </a:r>
          </a:p>
        </p:txBody>
      </p:sp>
      <p:sp>
        <p:nvSpPr>
          <p:cNvPr id="7" name="Date Placeholder 6"/>
          <p:cNvSpPr>
            <a:spLocks noGrp="1"/>
          </p:cNvSpPr>
          <p:nvPr>
            <p:ph type="dt" sz="half" idx="10"/>
          </p:nvPr>
        </p:nvSpPr>
        <p:spPr/>
        <p:txBody>
          <a:bodyPr/>
          <a:lstStyle/>
          <a:p>
            <a:fld id="{846CE7D5-CF57-46EF-B807-FDD0502418D4}" type="datetimeFigureOut">
              <a:rPr lang="en-US" smtClean="0"/>
              <a:t>3/7/2026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GB"/>
              <a:t>Click to edit Master text styles</a:t>
            </a:r>
          </a:p>
          <a:p>
            <a:pPr lvl="1" eaLnBrk="1" latinLnBrk="0" hangingPunct="1"/>
            <a:r>
              <a:rPr lang="en-GB"/>
              <a:t>Second level</a:t>
            </a:r>
          </a:p>
          <a:p>
            <a:pPr lvl="2" eaLnBrk="1" latinLnBrk="0" hangingPunct="1"/>
            <a:r>
              <a:rPr lang="en-GB"/>
              <a:t>Third level</a:t>
            </a:r>
          </a:p>
          <a:p>
            <a:pPr lvl="3" eaLnBrk="1" latinLnBrk="0" hangingPunct="1"/>
            <a:r>
              <a:rPr lang="en-GB"/>
              <a:t>Fourth level</a:t>
            </a:r>
          </a:p>
          <a:p>
            <a:pPr lvl="4" eaLnBrk="1" latinLnBrk="0" hangingPunct="1"/>
            <a:r>
              <a:rPr lang="en-GB"/>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GB"/>
              <a:t>Click to edit Master text styles</a:t>
            </a:r>
          </a:p>
          <a:p>
            <a:pPr lvl="1" eaLnBrk="1" latinLnBrk="0" hangingPunct="1"/>
            <a:r>
              <a:rPr lang="en-GB"/>
              <a:t>Second level</a:t>
            </a:r>
          </a:p>
          <a:p>
            <a:pPr lvl="2" eaLnBrk="1" latinLnBrk="0" hangingPunct="1"/>
            <a:r>
              <a:rPr lang="en-GB"/>
              <a:t>Third level</a:t>
            </a:r>
          </a:p>
          <a:p>
            <a:pPr lvl="3" eaLnBrk="1" latinLnBrk="0" hangingPunct="1"/>
            <a:r>
              <a:rPr lang="en-GB"/>
              <a:t>Fourth level</a:t>
            </a:r>
          </a:p>
          <a:p>
            <a:pPr lvl="4" eaLnBrk="1" latinLnBrk="0" hangingPunct="1"/>
            <a:r>
              <a:rPr lang="en-GB"/>
              <a:t>Fifth level</a:t>
            </a:r>
            <a:endParaRPr kumimoji="0" lang="en-US"/>
          </a:p>
        </p:txBody>
      </p:sp>
    </p:spTree>
    <p:extLst>
      <p:ext uri="{BB962C8B-B14F-4D97-AF65-F5344CB8AC3E}">
        <p14:creationId xmlns:p14="http://schemas.microsoft.com/office/powerpoint/2010/main" val="630008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GB"/>
              <a:t>Click to edit Master title style</a:t>
            </a:r>
            <a:endParaRPr kumimoji="0" lang="en-US"/>
          </a:p>
        </p:txBody>
      </p:sp>
      <p:sp>
        <p:nvSpPr>
          <p:cNvPr id="3" name="Date Placeholder 2"/>
          <p:cNvSpPr>
            <a:spLocks noGrp="1"/>
          </p:cNvSpPr>
          <p:nvPr>
            <p:ph type="dt" sz="half" idx="10"/>
          </p:nvPr>
        </p:nvSpPr>
        <p:spPr/>
        <p:txBody>
          <a:bodyPr/>
          <a:lstStyle/>
          <a:p>
            <a:fld id="{846CE7D5-CF57-46EF-B807-FDD0502418D4}" type="datetimeFigureOut">
              <a:rPr lang="en-US" smtClean="0"/>
              <a:t>3/7/2026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
        <p:nvSpPr>
          <p:cNvPr id="6" name="Isosceles Triangle 5"/>
          <p:cNvSpPr>
            <a:spLocks noChangeAspect="1"/>
          </p:cNvSpPr>
          <p:nvPr/>
        </p:nvSpPr>
        <p:spPr>
          <a:xfrm rot="5400000">
            <a:off x="590610" y="6447424"/>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extLst>
      <p:ext uri="{BB962C8B-B14F-4D97-AF65-F5344CB8AC3E}">
        <p14:creationId xmlns:p14="http://schemas.microsoft.com/office/powerpoint/2010/main" val="11083175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Isosceles Triangle 5"/>
          <p:cNvSpPr>
            <a:spLocks noChangeAspect="1"/>
          </p:cNvSpPr>
          <p:nvPr/>
        </p:nvSpPr>
        <p:spPr>
          <a:xfrm rot="5400000">
            <a:off x="590610" y="6447424"/>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extLst>
      <p:ext uri="{BB962C8B-B14F-4D97-AF65-F5344CB8AC3E}">
        <p14:creationId xmlns:p14="http://schemas.microsoft.com/office/powerpoint/2010/main" val="1436377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GB"/>
              <a:t>Click to edit Master title style</a:t>
            </a:r>
            <a:endParaRPr kumimoji="0" lang="en-US"/>
          </a:p>
        </p:txBody>
      </p:sp>
      <p:sp>
        <p:nvSpPr>
          <p:cNvPr id="3" name="Text Placeholder 2"/>
          <p:cNvSpPr>
            <a:spLocks noGrp="1"/>
          </p:cNvSpPr>
          <p:nvPr>
            <p:ph type="body" idx="2"/>
          </p:nvPr>
        </p:nvSpPr>
        <p:spPr>
          <a:xfrm>
            <a:off x="8432800" y="1219203"/>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10" y="6447424"/>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GB"/>
              <a:t>Click to edit Master text styles</a:t>
            </a:r>
          </a:p>
          <a:p>
            <a:pPr lvl="1" eaLnBrk="1" latinLnBrk="0" hangingPunct="1"/>
            <a:r>
              <a:rPr lang="en-GB"/>
              <a:t>Second level</a:t>
            </a:r>
          </a:p>
          <a:p>
            <a:pPr lvl="2" eaLnBrk="1" latinLnBrk="0" hangingPunct="1"/>
            <a:r>
              <a:rPr lang="en-GB"/>
              <a:t>Third level</a:t>
            </a:r>
          </a:p>
          <a:p>
            <a:pPr lvl="3" eaLnBrk="1" latinLnBrk="0" hangingPunct="1"/>
            <a:r>
              <a:rPr lang="en-GB"/>
              <a:t>Fourth level</a:t>
            </a:r>
          </a:p>
          <a:p>
            <a:pPr lvl="4" eaLnBrk="1" latinLnBrk="0" hangingPunct="1"/>
            <a:r>
              <a:rPr lang="en-GB"/>
              <a:t>Fifth level</a:t>
            </a:r>
            <a:endParaRPr kumimoji="0" lang="en-US"/>
          </a:p>
        </p:txBody>
      </p:sp>
    </p:spTree>
    <p:extLst>
      <p:ext uri="{BB962C8B-B14F-4D97-AF65-F5344CB8AC3E}">
        <p14:creationId xmlns:p14="http://schemas.microsoft.com/office/powerpoint/2010/main" val="11203397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GB"/>
              <a:t>Click to edit Master title style</a:t>
            </a:r>
            <a:endParaRPr kumimoji="0" lang="en-US"/>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GB"/>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Isosceles Triangle 8"/>
          <p:cNvSpPr>
            <a:spLocks noChangeAspect="1"/>
          </p:cNvSpPr>
          <p:nvPr/>
        </p:nvSpPr>
        <p:spPr>
          <a:xfrm rot="5400000">
            <a:off x="590610" y="6447424"/>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extLst>
      <p:ext uri="{BB962C8B-B14F-4D97-AF65-F5344CB8AC3E}">
        <p14:creationId xmlns:p14="http://schemas.microsoft.com/office/powerpoint/2010/main" val="2393012403"/>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GB"/>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GB"/>
              <a:t>Click to edit Master text styles</a:t>
            </a:r>
          </a:p>
          <a:p>
            <a:pPr lvl="1" eaLnBrk="1" latinLnBrk="0" hangingPunct="1"/>
            <a:r>
              <a:rPr lang="en-GB"/>
              <a:t>Second level</a:t>
            </a:r>
          </a:p>
          <a:p>
            <a:pPr lvl="2" eaLnBrk="1" latinLnBrk="0" hangingPunct="1"/>
            <a:r>
              <a:rPr lang="en-GB"/>
              <a:t>Third level</a:t>
            </a:r>
          </a:p>
          <a:p>
            <a:pPr lvl="3" eaLnBrk="1" latinLnBrk="0" hangingPunct="1"/>
            <a:r>
              <a:rPr lang="en-GB"/>
              <a:t>Fourth level</a:t>
            </a:r>
          </a:p>
          <a:p>
            <a:pPr lvl="4" eaLnBrk="1" latinLnBrk="0" hangingPunct="1"/>
            <a:r>
              <a:rPr lang="en-GB"/>
              <a:t>Fifth level</a:t>
            </a:r>
            <a:endParaRPr kumimoji="0" lang="en-US"/>
          </a:p>
        </p:txBody>
      </p:sp>
      <p:sp>
        <p:nvSpPr>
          <p:cNvPr id="4" name="Date Placeholder 3"/>
          <p:cNvSpPr>
            <a:spLocks noGrp="1"/>
          </p:cNvSpPr>
          <p:nvPr>
            <p:ph type="dt" sz="half" idx="10"/>
          </p:nvPr>
        </p:nvSpPr>
        <p:spPr/>
        <p:txBody>
          <a:bodyPr/>
          <a:lstStyle/>
          <a:p>
            <a:fld id="{846CE7D5-CF57-46EF-B807-FDD0502418D4}"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88542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kumimoji="0" lang="en-GB"/>
              <a:t>Click to edit Master title style</a:t>
            </a:r>
            <a:endParaRPr kumimoji="0" lang="en-US"/>
          </a:p>
        </p:txBody>
      </p:sp>
      <p:sp>
        <p:nvSpPr>
          <p:cNvPr id="3" name="Vertical Text Placeholder 2"/>
          <p:cNvSpPr>
            <a:spLocks noGrp="1"/>
          </p:cNvSpPr>
          <p:nvPr>
            <p:ph type="body" orient="vert" idx="1"/>
          </p:nvPr>
        </p:nvSpPr>
        <p:spPr>
          <a:xfrm>
            <a:off x="609600" y="274641"/>
            <a:ext cx="8026400" cy="5851525"/>
          </a:xfrm>
        </p:spPr>
        <p:txBody>
          <a:bodyPr vert="eaVert"/>
          <a:lstStyle/>
          <a:p>
            <a:pPr lvl="0" eaLnBrk="1" latinLnBrk="0" hangingPunct="1"/>
            <a:r>
              <a:rPr lang="en-GB"/>
              <a:t>Click to edit Master text styles</a:t>
            </a:r>
          </a:p>
          <a:p>
            <a:pPr lvl="1" eaLnBrk="1" latinLnBrk="0" hangingPunct="1"/>
            <a:r>
              <a:rPr lang="en-GB"/>
              <a:t>Second level</a:t>
            </a:r>
          </a:p>
          <a:p>
            <a:pPr lvl="2" eaLnBrk="1" latinLnBrk="0" hangingPunct="1"/>
            <a:r>
              <a:rPr lang="en-GB"/>
              <a:t>Third level</a:t>
            </a:r>
          </a:p>
          <a:p>
            <a:pPr lvl="3" eaLnBrk="1" latinLnBrk="0" hangingPunct="1"/>
            <a:r>
              <a:rPr lang="en-GB"/>
              <a:t>Fourth level</a:t>
            </a:r>
          </a:p>
          <a:p>
            <a:pPr lvl="4" eaLnBrk="1" latinLnBrk="0" hangingPunct="1"/>
            <a:r>
              <a:rPr lang="en-GB"/>
              <a:t>Fifth level</a:t>
            </a:r>
            <a:endParaRPr kumimoji="0" lang="en-US"/>
          </a:p>
        </p:txBody>
      </p:sp>
      <p:sp>
        <p:nvSpPr>
          <p:cNvPr id="4" name="Date Placeholder 3"/>
          <p:cNvSpPr>
            <a:spLocks noGrp="1"/>
          </p:cNvSpPr>
          <p:nvPr>
            <p:ph type="dt" sz="half" idx="10"/>
          </p:nvPr>
        </p:nvSpPr>
        <p:spPr/>
        <p:txBody>
          <a:bodyPr/>
          <a:lstStyle/>
          <a:p>
            <a:fld id="{846CE7D5-CF57-46EF-B807-FDD0502418D4}" type="datetimeFigureOut">
              <a:rPr lang="en-US" smtClean="0"/>
              <a:t>3/7/2026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Isosceles Triangle 7"/>
          <p:cNvSpPr>
            <a:spLocks noChangeAspect="1"/>
          </p:cNvSpPr>
          <p:nvPr/>
        </p:nvSpPr>
        <p:spPr>
          <a:xfrm rot="5400000">
            <a:off x="590610" y="6447424"/>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extLst>
      <p:ext uri="{BB962C8B-B14F-4D97-AF65-F5344CB8AC3E}">
        <p14:creationId xmlns:p14="http://schemas.microsoft.com/office/powerpoint/2010/main" val="32439227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0" name="Freeform 5"/>
          <p:cNvSpPr>
            <a:spLocks/>
          </p:cNvSpPr>
          <p:nvPr/>
        </p:nvSpPr>
        <p:spPr bwMode="auto">
          <a:xfrm>
            <a:off x="2" y="3"/>
            <a:ext cx="11077303" cy="6093959"/>
          </a:xfrm>
          <a:custGeom>
            <a:avLst/>
            <a:gdLst>
              <a:gd name="T0" fmla="*/ 0 w 2616"/>
              <a:gd name="T1" fmla="*/ 0 h 1918"/>
              <a:gd name="T2" fmla="*/ 0 w 2616"/>
              <a:gd name="T3" fmla="*/ 1893 h 1918"/>
              <a:gd name="T4" fmla="*/ 441 w 2616"/>
              <a:gd name="T5" fmla="*/ 1915 h 1918"/>
              <a:gd name="T6" fmla="*/ 986 w 2616"/>
              <a:gd name="T7" fmla="*/ 1839 h 1918"/>
              <a:gd name="T8" fmla="*/ 1612 w 2616"/>
              <a:gd name="T9" fmla="*/ 1581 h 1918"/>
              <a:gd name="T10" fmla="*/ 2173 w 2616"/>
              <a:gd name="T11" fmla="*/ 1105 h 1918"/>
              <a:gd name="T12" fmla="*/ 2543 w 2616"/>
              <a:gd name="T13" fmla="*/ 372 h 1918"/>
              <a:gd name="T14" fmla="*/ 2616 w 2616"/>
              <a:gd name="T15" fmla="*/ 0 h 1918"/>
              <a:gd name="T16" fmla="*/ 0 w 2616"/>
              <a:gd name="T17" fmla="*/ 0 h 1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16" h="1918">
                <a:moveTo>
                  <a:pt x="0" y="0"/>
                </a:moveTo>
                <a:cubicBezTo>
                  <a:pt x="0" y="1893"/>
                  <a:pt x="0" y="1893"/>
                  <a:pt x="0" y="1893"/>
                </a:cubicBezTo>
                <a:cubicBezTo>
                  <a:pt x="240" y="1918"/>
                  <a:pt x="441" y="1915"/>
                  <a:pt x="441" y="1915"/>
                </a:cubicBezTo>
                <a:cubicBezTo>
                  <a:pt x="594" y="1915"/>
                  <a:pt x="775" y="1890"/>
                  <a:pt x="986" y="1839"/>
                </a:cubicBezTo>
                <a:cubicBezTo>
                  <a:pt x="1197" y="1787"/>
                  <a:pt x="1405" y="1702"/>
                  <a:pt x="1612" y="1581"/>
                </a:cubicBezTo>
                <a:cubicBezTo>
                  <a:pt x="1819" y="1461"/>
                  <a:pt x="2006" y="1303"/>
                  <a:pt x="2173" y="1105"/>
                </a:cubicBezTo>
                <a:cubicBezTo>
                  <a:pt x="2339" y="908"/>
                  <a:pt x="2464" y="664"/>
                  <a:pt x="2543" y="372"/>
                </a:cubicBezTo>
                <a:cubicBezTo>
                  <a:pt x="2574" y="257"/>
                  <a:pt x="2598" y="133"/>
                  <a:pt x="2616" y="0"/>
                </a:cubicBezTo>
                <a:lnTo>
                  <a:pt x="0" y="0"/>
                </a:lnTo>
                <a:close/>
              </a:path>
            </a:pathLst>
          </a:custGeom>
          <a:solidFill>
            <a:srgbClr val="002060"/>
          </a:solidFill>
          <a:ln>
            <a:noFill/>
          </a:ln>
        </p:spPr>
        <p:txBody>
          <a:bodyPr vert="horz" wrap="square" lIns="91440" tIns="45720" rIns="91440" bIns="45720" numCol="1" anchor="t" anchorCtr="0" compatLnSpc="1">
            <a:prstTxWarp prst="textNoShape">
              <a:avLst/>
            </a:prstTxWarp>
          </a:bodyPr>
          <a:lstStyle/>
          <a:p>
            <a:endParaRPr lang="en-IE" sz="1800"/>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l="1882" t="8183" r="73587"/>
          <a:stretch/>
        </p:blipFill>
        <p:spPr>
          <a:xfrm>
            <a:off x="11077304" y="0"/>
            <a:ext cx="1114697" cy="835536"/>
          </a:xfrm>
          <a:prstGeom prst="rect">
            <a:avLst/>
          </a:prstGeom>
        </p:spPr>
      </p:pic>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302" y="6248400"/>
            <a:ext cx="2933700" cy="587508"/>
          </a:xfrm>
          <a:prstGeom prst="rect">
            <a:avLst/>
          </a:prstGeom>
        </p:spPr>
      </p:pic>
      <p:pic>
        <p:nvPicPr>
          <p:cNvPr id="8" name="Picture 7"/>
          <p:cNvPicPr/>
          <p:nvPr/>
        </p:nvPicPr>
        <p:blipFill rotWithShape="1">
          <a:blip r:embed="rId3" cstate="print">
            <a:extLst>
              <a:ext uri="{28A0092B-C50C-407E-A947-70E740481C1C}">
                <a14:useLocalDpi xmlns:a14="http://schemas.microsoft.com/office/drawing/2010/main" val="0"/>
              </a:ext>
            </a:extLst>
          </a:blip>
          <a:srcRect t="16380"/>
          <a:stretch/>
        </p:blipFill>
        <p:spPr bwMode="auto">
          <a:xfrm>
            <a:off x="4728635" y="6303331"/>
            <a:ext cx="1265767" cy="475615"/>
          </a:xfrm>
          <a:prstGeom prst="rect">
            <a:avLst/>
          </a:prstGeom>
          <a:noFill/>
          <a:ln>
            <a:noFill/>
          </a:ln>
          <a:extLst>
            <a:ext uri="{53640926-AAD7-44D8-BBD7-CCE9431645EC}">
              <a14:shadowObscured xmlns:a14="http://schemas.microsoft.com/office/drawing/2010/main"/>
            </a:ext>
          </a:extLst>
        </p:spPr>
      </p:pic>
      <p:pic>
        <p:nvPicPr>
          <p:cNvPr id="9" name="Picture 8" descr="GIZ logo with addition">
            <a:extLst>
              <a:ext uri="{FF2B5EF4-FFF2-40B4-BE49-F238E27FC236}">
                <a16:creationId xmlns:a16="http://schemas.microsoft.com/office/drawing/2014/main" id="{8D7A2E58-4E66-4563-B403-CF9E3FEC1384}"/>
              </a:ext>
            </a:extLst>
          </p:cNvPr>
          <p:cNvPicPr/>
          <p:nvPr/>
        </p:nvPicPr>
        <p:blipFill rotWithShape="1">
          <a:blip r:embed="rId4">
            <a:extLst>
              <a:ext uri="{28A0092B-C50C-407E-A947-70E740481C1C}">
                <a14:useLocalDpi xmlns:a14="http://schemas.microsoft.com/office/drawing/2010/main" val="0"/>
              </a:ext>
            </a:extLst>
          </a:blip>
          <a:srcRect t="29520"/>
          <a:stretch/>
        </p:blipFill>
        <p:spPr bwMode="auto">
          <a:xfrm>
            <a:off x="6908801" y="6233163"/>
            <a:ext cx="2487507" cy="545783"/>
          </a:xfrm>
          <a:prstGeom prst="rect">
            <a:avLst/>
          </a:prstGeom>
          <a:noFill/>
        </p:spPr>
      </p:pic>
      <p:pic>
        <p:nvPicPr>
          <p:cNvPr id="10" name="Picture 9"/>
          <p:cNvPicPr>
            <a:picLocks noChangeAspect="1"/>
          </p:cNvPicPr>
          <p:nvPr/>
        </p:nvPicPr>
        <p:blipFill rotWithShape="1">
          <a:blip r:embed="rId5" cstate="print">
            <a:extLst>
              <a:ext uri="{28A0092B-C50C-407E-A947-70E740481C1C}">
                <a14:useLocalDpi xmlns:a14="http://schemas.microsoft.com/office/drawing/2010/main" val="0"/>
              </a:ext>
            </a:extLst>
          </a:blip>
          <a:srcRect l="11982" t="16649" r="11982" b="16649"/>
          <a:stretch/>
        </p:blipFill>
        <p:spPr>
          <a:xfrm>
            <a:off x="9956800" y="6212612"/>
            <a:ext cx="1188720" cy="569191"/>
          </a:xfrm>
          <a:prstGeom prst="rect">
            <a:avLst/>
          </a:prstGeom>
          <a:noFill/>
          <a:ln>
            <a:noFill/>
          </a:ln>
        </p:spPr>
      </p:pic>
    </p:spTree>
    <p:extLst>
      <p:ext uri="{BB962C8B-B14F-4D97-AF65-F5344CB8AC3E}">
        <p14:creationId xmlns:p14="http://schemas.microsoft.com/office/powerpoint/2010/main" val="29473234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GB"/>
              <a:t>Click to edit Master title style</a:t>
            </a:r>
            <a:endParaRPr kumimoji="0" lang="en-US"/>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GB"/>
              <a:t>Click to edit Master text styles</a:t>
            </a:r>
          </a:p>
          <a:p>
            <a:pPr lvl="1" eaLnBrk="1" latinLnBrk="0" hangingPunct="1"/>
            <a:r>
              <a:rPr kumimoji="0" lang="en-GB"/>
              <a:t>Second level</a:t>
            </a:r>
          </a:p>
          <a:p>
            <a:pPr lvl="2" eaLnBrk="1" latinLnBrk="0" hangingPunct="1"/>
            <a:r>
              <a:rPr kumimoji="0" lang="en-GB"/>
              <a:t>Third level</a:t>
            </a:r>
          </a:p>
          <a:p>
            <a:pPr lvl="3" eaLnBrk="1" latinLnBrk="0" hangingPunct="1"/>
            <a:r>
              <a:rPr kumimoji="0" lang="en-GB"/>
              <a:t>Fourth level</a:t>
            </a:r>
          </a:p>
          <a:p>
            <a:pPr lvl="4" eaLnBrk="1" latinLnBrk="0" hangingPunct="1"/>
            <a:r>
              <a:rPr kumimoji="0" lang="en-GB"/>
              <a:t>Fifth level</a:t>
            </a:r>
            <a:endParaRPr kumimoji="0" lang="en-US" dirty="0"/>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fld id="{846CE7D5-CF57-46EF-B807-FDD0502418D4}" type="datetimeFigureOut">
              <a:rPr lang="en-US" smtClean="0"/>
              <a:t>3/7/2026</a:t>
            </a:fld>
            <a:endParaRPr lang="en-US"/>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fld id="{330EA680-D336-4FF7-8B7A-9848BB0A1C32}" type="slidenum">
              <a:rPr lang="en-US" smtClean="0"/>
              <a:t>‹#›</a:t>
            </a:fld>
            <a:endParaRPr lang="en-US"/>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Isosceles Triangle 9"/>
          <p:cNvSpPr>
            <a:spLocks noChangeAspect="1"/>
          </p:cNvSpPr>
          <p:nvPr/>
        </p:nvSpPr>
        <p:spPr>
          <a:xfrm rot="5400000">
            <a:off x="590610" y="6447424"/>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grpSp>
        <p:nvGrpSpPr>
          <p:cNvPr id="11" name="Group 4"/>
          <p:cNvGrpSpPr>
            <a:grpSpLocks noChangeAspect="1"/>
          </p:cNvGrpSpPr>
          <p:nvPr/>
        </p:nvGrpSpPr>
        <p:grpSpPr bwMode="auto">
          <a:xfrm>
            <a:off x="10113556" y="0"/>
            <a:ext cx="2078445" cy="3787669"/>
            <a:chOff x="2304" y="757"/>
            <a:chExt cx="1154" cy="2804"/>
          </a:xfrm>
          <a:solidFill>
            <a:schemeClr val="accent2"/>
          </a:solidFill>
        </p:grpSpPr>
        <p:sp>
          <p:nvSpPr>
            <p:cNvPr id="12" name="Freeform 5"/>
            <p:cNvSpPr>
              <a:spLocks/>
            </p:cNvSpPr>
            <p:nvPr/>
          </p:nvSpPr>
          <p:spPr bwMode="auto">
            <a:xfrm>
              <a:off x="2304" y="757"/>
              <a:ext cx="1154" cy="474"/>
            </a:xfrm>
            <a:custGeom>
              <a:avLst/>
              <a:gdLst>
                <a:gd name="T0" fmla="*/ 166 w 485"/>
                <a:gd name="T1" fmla="*/ 142 h 200"/>
                <a:gd name="T2" fmla="*/ 485 w 485"/>
                <a:gd name="T3" fmla="*/ 176 h 200"/>
                <a:gd name="T4" fmla="*/ 485 w 485"/>
                <a:gd name="T5" fmla="*/ 0 h 200"/>
                <a:gd name="T6" fmla="*/ 0 w 485"/>
                <a:gd name="T7" fmla="*/ 0 h 200"/>
                <a:gd name="T8" fmla="*/ 166 w 485"/>
                <a:gd name="T9" fmla="*/ 142 h 200"/>
              </a:gdLst>
              <a:ahLst/>
              <a:cxnLst>
                <a:cxn ang="0">
                  <a:pos x="T0" y="T1"/>
                </a:cxn>
                <a:cxn ang="0">
                  <a:pos x="T2" y="T3"/>
                </a:cxn>
                <a:cxn ang="0">
                  <a:pos x="T4" y="T5"/>
                </a:cxn>
                <a:cxn ang="0">
                  <a:pos x="T6" y="T7"/>
                </a:cxn>
                <a:cxn ang="0">
                  <a:pos x="T8" y="T9"/>
                </a:cxn>
              </a:cxnLst>
              <a:rect l="0" t="0" r="r" b="b"/>
              <a:pathLst>
                <a:path w="485" h="200">
                  <a:moveTo>
                    <a:pt x="166" y="142"/>
                  </a:moveTo>
                  <a:cubicBezTo>
                    <a:pt x="266" y="188"/>
                    <a:pt x="372" y="200"/>
                    <a:pt x="485" y="176"/>
                  </a:cubicBezTo>
                  <a:cubicBezTo>
                    <a:pt x="485" y="0"/>
                    <a:pt x="485" y="0"/>
                    <a:pt x="485" y="0"/>
                  </a:cubicBezTo>
                  <a:cubicBezTo>
                    <a:pt x="0" y="0"/>
                    <a:pt x="0" y="0"/>
                    <a:pt x="0" y="0"/>
                  </a:cubicBezTo>
                  <a:cubicBezTo>
                    <a:pt x="42" y="62"/>
                    <a:pt x="98" y="110"/>
                    <a:pt x="166" y="14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sz="1800"/>
            </a:p>
          </p:txBody>
        </p:sp>
        <p:sp>
          <p:nvSpPr>
            <p:cNvPr id="15" name="Freeform 6"/>
            <p:cNvSpPr>
              <a:spLocks/>
            </p:cNvSpPr>
            <p:nvPr/>
          </p:nvSpPr>
          <p:spPr bwMode="auto">
            <a:xfrm>
              <a:off x="2675" y="1565"/>
              <a:ext cx="783" cy="1996"/>
            </a:xfrm>
            <a:custGeom>
              <a:avLst/>
              <a:gdLst>
                <a:gd name="T0" fmla="*/ 329 w 329"/>
                <a:gd name="T1" fmla="*/ 0 h 843"/>
                <a:gd name="T2" fmla="*/ 65 w 329"/>
                <a:gd name="T3" fmla="*/ 541 h 843"/>
                <a:gd name="T4" fmla="*/ 329 w 329"/>
                <a:gd name="T5" fmla="*/ 843 h 843"/>
                <a:gd name="T6" fmla="*/ 329 w 329"/>
                <a:gd name="T7" fmla="*/ 0 h 843"/>
              </a:gdLst>
              <a:ahLst/>
              <a:cxnLst>
                <a:cxn ang="0">
                  <a:pos x="T0" y="T1"/>
                </a:cxn>
                <a:cxn ang="0">
                  <a:pos x="T2" y="T3"/>
                </a:cxn>
                <a:cxn ang="0">
                  <a:pos x="T4" y="T5"/>
                </a:cxn>
                <a:cxn ang="0">
                  <a:pos x="T6" y="T7"/>
                </a:cxn>
              </a:cxnLst>
              <a:rect l="0" t="0" r="r" b="b"/>
              <a:pathLst>
                <a:path w="329" h="843">
                  <a:moveTo>
                    <a:pt x="329" y="0"/>
                  </a:moveTo>
                  <a:cubicBezTo>
                    <a:pt x="118" y="96"/>
                    <a:pt x="0" y="318"/>
                    <a:pt x="65" y="541"/>
                  </a:cubicBezTo>
                  <a:cubicBezTo>
                    <a:pt x="105" y="679"/>
                    <a:pt x="196" y="791"/>
                    <a:pt x="329" y="843"/>
                  </a:cubicBezTo>
                  <a:lnTo>
                    <a:pt x="329"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sz="1800"/>
            </a:p>
          </p:txBody>
        </p:sp>
      </p:grpSp>
      <p:grpSp>
        <p:nvGrpSpPr>
          <p:cNvPr id="20" name="Group 4"/>
          <p:cNvGrpSpPr>
            <a:grpSpLocks noChangeAspect="1"/>
          </p:cNvGrpSpPr>
          <p:nvPr/>
        </p:nvGrpSpPr>
        <p:grpSpPr bwMode="auto">
          <a:xfrm>
            <a:off x="10113556" y="0"/>
            <a:ext cx="2078445" cy="3787669"/>
            <a:chOff x="2304" y="757"/>
            <a:chExt cx="1154" cy="2804"/>
          </a:xfrm>
          <a:solidFill>
            <a:schemeClr val="accent2"/>
          </a:solidFill>
        </p:grpSpPr>
        <p:sp>
          <p:nvSpPr>
            <p:cNvPr id="30" name="Freeform 5"/>
            <p:cNvSpPr>
              <a:spLocks/>
            </p:cNvSpPr>
            <p:nvPr/>
          </p:nvSpPr>
          <p:spPr bwMode="auto">
            <a:xfrm>
              <a:off x="2304" y="757"/>
              <a:ext cx="1154" cy="474"/>
            </a:xfrm>
            <a:custGeom>
              <a:avLst/>
              <a:gdLst>
                <a:gd name="T0" fmla="*/ 166 w 485"/>
                <a:gd name="T1" fmla="*/ 142 h 200"/>
                <a:gd name="T2" fmla="*/ 485 w 485"/>
                <a:gd name="T3" fmla="*/ 176 h 200"/>
                <a:gd name="T4" fmla="*/ 485 w 485"/>
                <a:gd name="T5" fmla="*/ 0 h 200"/>
                <a:gd name="T6" fmla="*/ 0 w 485"/>
                <a:gd name="T7" fmla="*/ 0 h 200"/>
                <a:gd name="T8" fmla="*/ 166 w 485"/>
                <a:gd name="T9" fmla="*/ 142 h 200"/>
              </a:gdLst>
              <a:ahLst/>
              <a:cxnLst>
                <a:cxn ang="0">
                  <a:pos x="T0" y="T1"/>
                </a:cxn>
                <a:cxn ang="0">
                  <a:pos x="T2" y="T3"/>
                </a:cxn>
                <a:cxn ang="0">
                  <a:pos x="T4" y="T5"/>
                </a:cxn>
                <a:cxn ang="0">
                  <a:pos x="T6" y="T7"/>
                </a:cxn>
                <a:cxn ang="0">
                  <a:pos x="T8" y="T9"/>
                </a:cxn>
              </a:cxnLst>
              <a:rect l="0" t="0" r="r" b="b"/>
              <a:pathLst>
                <a:path w="485" h="200">
                  <a:moveTo>
                    <a:pt x="166" y="142"/>
                  </a:moveTo>
                  <a:cubicBezTo>
                    <a:pt x="266" y="188"/>
                    <a:pt x="372" y="200"/>
                    <a:pt x="485" y="176"/>
                  </a:cubicBezTo>
                  <a:cubicBezTo>
                    <a:pt x="485" y="0"/>
                    <a:pt x="485" y="0"/>
                    <a:pt x="485" y="0"/>
                  </a:cubicBezTo>
                  <a:cubicBezTo>
                    <a:pt x="0" y="0"/>
                    <a:pt x="0" y="0"/>
                    <a:pt x="0" y="0"/>
                  </a:cubicBezTo>
                  <a:cubicBezTo>
                    <a:pt x="42" y="62"/>
                    <a:pt x="98" y="110"/>
                    <a:pt x="166" y="142"/>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sz="1800"/>
            </a:p>
          </p:txBody>
        </p:sp>
        <p:sp>
          <p:nvSpPr>
            <p:cNvPr id="31" name="Freeform 6"/>
            <p:cNvSpPr>
              <a:spLocks/>
            </p:cNvSpPr>
            <p:nvPr/>
          </p:nvSpPr>
          <p:spPr bwMode="auto">
            <a:xfrm>
              <a:off x="2675" y="1565"/>
              <a:ext cx="783" cy="1996"/>
            </a:xfrm>
            <a:custGeom>
              <a:avLst/>
              <a:gdLst>
                <a:gd name="T0" fmla="*/ 329 w 329"/>
                <a:gd name="T1" fmla="*/ 0 h 843"/>
                <a:gd name="T2" fmla="*/ 65 w 329"/>
                <a:gd name="T3" fmla="*/ 541 h 843"/>
                <a:gd name="T4" fmla="*/ 329 w 329"/>
                <a:gd name="T5" fmla="*/ 843 h 843"/>
                <a:gd name="T6" fmla="*/ 329 w 329"/>
                <a:gd name="T7" fmla="*/ 0 h 843"/>
              </a:gdLst>
              <a:ahLst/>
              <a:cxnLst>
                <a:cxn ang="0">
                  <a:pos x="T0" y="T1"/>
                </a:cxn>
                <a:cxn ang="0">
                  <a:pos x="T2" y="T3"/>
                </a:cxn>
                <a:cxn ang="0">
                  <a:pos x="T4" y="T5"/>
                </a:cxn>
                <a:cxn ang="0">
                  <a:pos x="T6" y="T7"/>
                </a:cxn>
              </a:cxnLst>
              <a:rect l="0" t="0" r="r" b="b"/>
              <a:pathLst>
                <a:path w="329" h="843">
                  <a:moveTo>
                    <a:pt x="329" y="0"/>
                  </a:moveTo>
                  <a:cubicBezTo>
                    <a:pt x="118" y="96"/>
                    <a:pt x="0" y="318"/>
                    <a:pt x="65" y="541"/>
                  </a:cubicBezTo>
                  <a:cubicBezTo>
                    <a:pt x="105" y="679"/>
                    <a:pt x="196" y="791"/>
                    <a:pt x="329" y="843"/>
                  </a:cubicBezTo>
                  <a:lnTo>
                    <a:pt x="329"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sz="1800"/>
            </a:p>
          </p:txBody>
        </p:sp>
      </p:grpSp>
      <p:pic>
        <p:nvPicPr>
          <p:cNvPr id="2" name="Picture 1">
            <a:extLst>
              <a:ext uri="{FF2B5EF4-FFF2-40B4-BE49-F238E27FC236}">
                <a16:creationId xmlns:a16="http://schemas.microsoft.com/office/drawing/2014/main" id="{9416A67C-19BE-6551-015F-2BDBC2A0A80F}"/>
              </a:ext>
            </a:extLst>
          </p:cNvPr>
          <p:cNvPicPr/>
          <p:nvPr/>
        </p:nvPicPr>
        <p:blipFill>
          <a:blip r:embed="rId14" cstate="print">
            <a:extLst>
              <a:ext uri="{28A0092B-C50C-407E-A947-70E740481C1C}">
                <a14:useLocalDpi xmlns:a14="http://schemas.microsoft.com/office/drawing/2010/main" val="0"/>
              </a:ext>
            </a:extLst>
          </a:blip>
          <a:stretch>
            <a:fillRect/>
          </a:stretch>
        </p:blipFill>
        <p:spPr>
          <a:xfrm>
            <a:off x="11217200" y="6172200"/>
            <a:ext cx="746200" cy="678951"/>
          </a:xfrm>
          <a:prstGeom prst="rect">
            <a:avLst/>
          </a:prstGeom>
        </p:spPr>
      </p:pic>
    </p:spTree>
    <p:extLst>
      <p:ext uri="{BB962C8B-B14F-4D97-AF65-F5344CB8AC3E}">
        <p14:creationId xmlns:p14="http://schemas.microsoft.com/office/powerpoint/2010/main" val="2289527819"/>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ctr" rtl="0" eaLnBrk="1" latinLnBrk="0" hangingPunct="1">
        <a:spcBef>
          <a:spcPct val="0"/>
        </a:spcBef>
        <a:buNone/>
        <a:defRPr kumimoji="0" sz="4000" b="1"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Tahoma" panose="020B0604030504040204" pitchFamily="34" charset="0"/>
          <a:ea typeface="Tahoma" panose="020B0604030504040204" pitchFamily="34" charset="0"/>
          <a:cs typeface="Tahoma" panose="020B0604030504040204" pitchFamily="34" charset="0"/>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fascrs.org/ascrs/media/files/Education/2023-Enhanced-Recovery-CPG.pdf"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pleasurepalate.blogspot.com/2012/07/thank-you-and-until-we-eat-again_06.html" TargetMode="External"/><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pubmed.ncbi.nlm.nih.gov/?term=%22Mahakalkar%20C%22%5BAuthor%5D" TargetMode="External"/><Relationship Id="rId2" Type="http://schemas.openxmlformats.org/officeDocument/2006/relationships/hyperlink" Target="https://pubmed.ncbi.nlm.nih.gov/?term=%22Rekavari%20SG%22%5BAuthor%5D" TargetMode="External"/><Relationship Id="rId1" Type="http://schemas.openxmlformats.org/officeDocument/2006/relationships/slideLayout" Target="../slideLayouts/slideLayout2.xml"/><Relationship Id="rId4" Type="http://schemas.openxmlformats.org/officeDocument/2006/relationships/hyperlink" Target="https://pubmed.ncbi.nlm.nih.gov/38481916/"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pressbooks.bccampus.ca/clinicalproceduresforsaferpatientcaretrubscn/chapter/4-9-drain-management-and-removal/" TargetMode="External"/><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hyperlink" Target="https://creativecommons.org/licenses/by/3.0/"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hyperlink" Target="https://www.nature.com/articles/s41598-025-97933-0/metrics" TargetMode="External"/><Relationship Id="rId3" Type="http://schemas.openxmlformats.org/officeDocument/2006/relationships/hyperlink" Target="https://www.nature.com/articles/s41598-025-97933-0#auth-Wubie_Birlie-Chekol-Aff2" TargetMode="External"/><Relationship Id="rId7" Type="http://schemas.openxmlformats.org/officeDocument/2006/relationships/hyperlink" Target="https://www.nature.com/articles/s41598-025-97933-0#citeas" TargetMode="External"/><Relationship Id="rId2" Type="http://schemas.openxmlformats.org/officeDocument/2006/relationships/hyperlink" Target="https://www.nature.com/articles/s41598-025-97933-0#auth-Simachew_Amogne-Debas-Aff1" TargetMode="External"/><Relationship Id="rId1" Type="http://schemas.openxmlformats.org/officeDocument/2006/relationships/slideLayout" Target="../slideLayouts/slideLayout2.xml"/><Relationship Id="rId6" Type="http://schemas.openxmlformats.org/officeDocument/2006/relationships/hyperlink" Target="https://www.nature.com/srep" TargetMode="External"/><Relationship Id="rId5" Type="http://schemas.openxmlformats.org/officeDocument/2006/relationships/hyperlink" Target="https://www.nature.com/articles/s41598-025-97933-0#auth-Abraham_Tarekegn-Mersha-Aff2" TargetMode="External"/><Relationship Id="rId4" Type="http://schemas.openxmlformats.org/officeDocument/2006/relationships/hyperlink" Target="https://www.nature.com/articles/s41598-025-97933-0#auth-Mulualem_Endeshaw-Zeleke-Aff2" TargetMode="External"/></Relationships>
</file>

<file path=ppt/slides/_rels/slide21.xml.rels><?xml version="1.0" encoding="UTF-8" standalone="yes"?>
<Relationships xmlns="http://schemas.openxmlformats.org/package/2006/relationships"><Relationship Id="rId8" Type="http://schemas.openxmlformats.org/officeDocument/2006/relationships/hyperlink" Target="https://www.nature.com/articles/s41598-021-82333-x#auth-Roozbeh-Salehpour-Aff1" TargetMode="External"/><Relationship Id="rId13" Type="http://schemas.openxmlformats.org/officeDocument/2006/relationships/hyperlink" Target="https://www.nature.com/articles/s41598-021-82333-x#auth-Pascal-Probst-Aff1" TargetMode="External"/><Relationship Id="rId18" Type="http://schemas.openxmlformats.org/officeDocument/2006/relationships/hyperlink" Target="https://www.nature.com/articles/s41598-021-82333-x#ref-CR1" TargetMode="External"/><Relationship Id="rId3" Type="http://schemas.openxmlformats.org/officeDocument/2006/relationships/hyperlink" Target="https://www.nature.com/articles/s41598-021-82333-x#auth-Umut_Kaan-_nal-Aff1" TargetMode="External"/><Relationship Id="rId21" Type="http://schemas.openxmlformats.org/officeDocument/2006/relationships/hyperlink" Target="https://www.nature.com/articles/s41598-021-82333-x#ref-CR4" TargetMode="External"/><Relationship Id="rId7" Type="http://schemas.openxmlformats.org/officeDocument/2006/relationships/hyperlink" Target="https://www.nature.com/articles/s41598-021-82333-x#auth-Ali-Ramouz-Aff1" TargetMode="External"/><Relationship Id="rId12" Type="http://schemas.openxmlformats.org/officeDocument/2006/relationships/hyperlink" Target="https://www.nature.com/articles/s41598-021-82333-x#auth-Katrin-Hoffmann-Aff1-Aff3" TargetMode="External"/><Relationship Id="rId17" Type="http://schemas.openxmlformats.org/officeDocument/2006/relationships/hyperlink" Target="https://www.nature.com/articles/s41598-021-82333-x/metrics" TargetMode="External"/><Relationship Id="rId2" Type="http://schemas.openxmlformats.org/officeDocument/2006/relationships/hyperlink" Target="https://www.nature.com/articles/s41598-021-82333-x#auth-Sepehr_Abbasi-Dezfouli-Aff1" TargetMode="External"/><Relationship Id="rId16" Type="http://schemas.openxmlformats.org/officeDocument/2006/relationships/hyperlink" Target="https://www.nature.com/articles/s41598-021-82333-x#citeas" TargetMode="External"/><Relationship Id="rId20" Type="http://schemas.openxmlformats.org/officeDocument/2006/relationships/hyperlink" Target="https://www.nature.com/articles/s41598-021-82333-x#ref-CR3" TargetMode="External"/><Relationship Id="rId1" Type="http://schemas.openxmlformats.org/officeDocument/2006/relationships/slideLayout" Target="../slideLayouts/slideLayout2.xml"/><Relationship Id="rId6" Type="http://schemas.openxmlformats.org/officeDocument/2006/relationships/hyperlink" Target="https://www.nature.com/articles/s41598-021-82333-x#auth-Sadeq-Ali_Hasan_Al_Saegh-Aff1" TargetMode="External"/><Relationship Id="rId11" Type="http://schemas.openxmlformats.org/officeDocument/2006/relationships/hyperlink" Target="https://www.nature.com/articles/s41598-021-82333-x#auth-Markus-Mieth-Aff1" TargetMode="External"/><Relationship Id="rId5" Type="http://schemas.openxmlformats.org/officeDocument/2006/relationships/hyperlink" Target="https://www.nature.com/articles/s41598-021-82333-x#auth-Elias-Khajeh-Aff1" TargetMode="External"/><Relationship Id="rId15" Type="http://schemas.openxmlformats.org/officeDocument/2006/relationships/hyperlink" Target="https://www.nature.com/srep" TargetMode="External"/><Relationship Id="rId23" Type="http://schemas.openxmlformats.org/officeDocument/2006/relationships/hyperlink" Target="https://www.nature.com/articles/s41598-021-82333-x#ref-CR6" TargetMode="External"/><Relationship Id="rId10" Type="http://schemas.openxmlformats.org/officeDocument/2006/relationships/hyperlink" Target="https://www.nature.com/articles/s41598-021-82333-x#auth-De_Hua-Chang-Aff2" TargetMode="External"/><Relationship Id="rId19" Type="http://schemas.openxmlformats.org/officeDocument/2006/relationships/hyperlink" Target="https://www.nature.com/articles/s41598-021-82333-x#ref-CR2" TargetMode="External"/><Relationship Id="rId4" Type="http://schemas.openxmlformats.org/officeDocument/2006/relationships/hyperlink" Target="https://www.nature.com/articles/s41598-021-82333-x#auth-Omid-Ghamarnejad-Aff1" TargetMode="External"/><Relationship Id="rId9" Type="http://schemas.openxmlformats.org/officeDocument/2006/relationships/hyperlink" Target="https://www.nature.com/articles/s41598-021-82333-x#auth-Mohammad-Golriz-Aff1" TargetMode="External"/><Relationship Id="rId14" Type="http://schemas.openxmlformats.org/officeDocument/2006/relationships/hyperlink" Target="https://www.nature.com/articles/s41598-021-82333-x#auth-Arianeb-Mehrabi-Aff1-Aff3" TargetMode="External"/><Relationship Id="rId22" Type="http://schemas.openxmlformats.org/officeDocument/2006/relationships/hyperlink" Target="https://www.nature.com/articles/s41598-021-82333-x#ref-CR5"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pubmed.ncbi.nlm.nih.gov/38481916/#full-view-affiliation-1" TargetMode="External"/><Relationship Id="rId7" Type="http://schemas.openxmlformats.org/officeDocument/2006/relationships/hyperlink" Target="https://pubmed.ncbi.nlm.nih.gov/disclaimer/" TargetMode="External"/><Relationship Id="rId2" Type="http://schemas.openxmlformats.org/officeDocument/2006/relationships/hyperlink" Target="https://pubmed.ncbi.nlm.nih.gov/?term=Rekavari+SG&amp;cauthor_id=38481916" TargetMode="External"/><Relationship Id="rId1" Type="http://schemas.openxmlformats.org/officeDocument/2006/relationships/slideLayout" Target="../slideLayouts/slideLayout2.xml"/><Relationship Id="rId6" Type="http://schemas.openxmlformats.org/officeDocument/2006/relationships/hyperlink" Target="https://doi.org/10.7759/cureus.54056" TargetMode="External"/><Relationship Id="rId5" Type="http://schemas.openxmlformats.org/officeDocument/2006/relationships/hyperlink" Target="https://pmc.ncbi.nlm.nih.gov/articles/PMC10933947/" TargetMode="External"/><Relationship Id="rId4" Type="http://schemas.openxmlformats.org/officeDocument/2006/relationships/hyperlink" Target="https://pubmed.ncbi.nlm.nih.gov/?term=Mahakalkar+C&amp;cauthor_id=38481916" TargetMode="External"/></Relationships>
</file>

<file path=ppt/slides/_rels/slide23.xml.rels><?xml version="1.0" encoding="UTF-8" standalone="yes"?>
<Relationships xmlns="http://schemas.openxmlformats.org/package/2006/relationships"><Relationship Id="rId2" Type="http://schemas.openxmlformats.org/officeDocument/2006/relationships/hyperlink" Target="https://doi.org/10.1097/01.sla.0000218077.14035.a6"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doi.org/10.1016/j.ijso.2022.100545"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6CA163-C235-1608-0A4F-BAE6944099AD}"/>
              </a:ext>
            </a:extLst>
          </p:cNvPr>
          <p:cNvPicPr>
            <a:picLocks noChangeAspect="1"/>
          </p:cNvPicPr>
          <p:nvPr/>
        </p:nvPicPr>
        <p:blipFill>
          <a:blip r:embed="rId2"/>
          <a:stretch>
            <a:fillRect/>
          </a:stretch>
        </p:blipFill>
        <p:spPr>
          <a:xfrm>
            <a:off x="-11670" y="0"/>
            <a:ext cx="12203670" cy="6851447"/>
          </a:xfrm>
          <a:prstGeom prst="rect">
            <a:avLst/>
          </a:prstGeom>
        </p:spPr>
      </p:pic>
    </p:spTree>
    <p:extLst>
      <p:ext uri="{BB962C8B-B14F-4D97-AF65-F5344CB8AC3E}">
        <p14:creationId xmlns:p14="http://schemas.microsoft.com/office/powerpoint/2010/main" val="26960225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2336F-AC18-C854-F040-8B8F5F01CE10}"/>
              </a:ext>
            </a:extLst>
          </p:cNvPr>
          <p:cNvSpPr>
            <a:spLocks noGrp="1"/>
          </p:cNvSpPr>
          <p:nvPr>
            <p:ph type="title"/>
          </p:nvPr>
        </p:nvSpPr>
        <p:spPr/>
        <p:txBody>
          <a:bodyPr/>
          <a:lstStyle/>
          <a:p>
            <a:r>
              <a:rPr lang="en-GB" dirty="0"/>
              <a:t>Outline</a:t>
            </a:r>
          </a:p>
        </p:txBody>
      </p:sp>
      <p:graphicFrame>
        <p:nvGraphicFramePr>
          <p:cNvPr id="4" name="Content Placeholder 3">
            <a:extLst>
              <a:ext uri="{FF2B5EF4-FFF2-40B4-BE49-F238E27FC236}">
                <a16:creationId xmlns:a16="http://schemas.microsoft.com/office/drawing/2014/main" id="{8927F7E7-BC00-886A-0E7A-B3E111BA4B55}"/>
              </a:ext>
            </a:extLst>
          </p:cNvPr>
          <p:cNvGraphicFramePr>
            <a:graphicFrameLocks noGrp="1"/>
          </p:cNvGraphicFramePr>
          <p:nvPr>
            <p:ph sz="quarter" idx="1"/>
            <p:extLst>
              <p:ext uri="{D42A27DB-BD31-4B8C-83A1-F6EECF244321}">
                <p14:modId xmlns:p14="http://schemas.microsoft.com/office/powerpoint/2010/main" val="1245566116"/>
              </p:ext>
            </p:extLst>
          </p:nvPr>
        </p:nvGraphicFramePr>
        <p:xfrm>
          <a:off x="609599" y="1401097"/>
          <a:ext cx="11203859" cy="54569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26914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CDDCF-492E-252F-8AB6-447849C494B8}"/>
              </a:ext>
            </a:extLst>
          </p:cNvPr>
          <p:cNvSpPr>
            <a:spLocks noGrp="1"/>
          </p:cNvSpPr>
          <p:nvPr>
            <p:ph type="title"/>
          </p:nvPr>
        </p:nvSpPr>
        <p:spPr/>
        <p:txBody>
          <a:bodyPr/>
          <a:lstStyle/>
          <a:p>
            <a:r>
              <a:rPr lang="en-US" sz="4400" dirty="0"/>
              <a:t>Objectives</a:t>
            </a:r>
            <a:endParaRPr lang="en-US" dirty="0"/>
          </a:p>
        </p:txBody>
      </p:sp>
      <p:sp>
        <p:nvSpPr>
          <p:cNvPr id="3" name="Content Placeholder 2">
            <a:extLst>
              <a:ext uri="{FF2B5EF4-FFF2-40B4-BE49-F238E27FC236}">
                <a16:creationId xmlns:a16="http://schemas.microsoft.com/office/drawing/2014/main" id="{0DE51276-C314-76B5-47AD-4B28F72A0A80}"/>
              </a:ext>
            </a:extLst>
          </p:cNvPr>
          <p:cNvSpPr>
            <a:spLocks noGrp="1"/>
          </p:cNvSpPr>
          <p:nvPr>
            <p:ph sz="quarter" idx="1"/>
          </p:nvPr>
        </p:nvSpPr>
        <p:spPr>
          <a:xfrm>
            <a:off x="398206" y="1233948"/>
            <a:ext cx="11651226" cy="4937760"/>
          </a:xfrm>
        </p:spPr>
        <p:txBody>
          <a:bodyPr vert="horz" lIns="91440" tIns="45720" rIns="91440" bIns="45720" rtlCol="0" anchor="t">
            <a:normAutofit/>
          </a:bodyPr>
          <a:lstStyle/>
          <a:p>
            <a:r>
              <a:rPr lang="en-US" sz="3200" dirty="0"/>
              <a:t>At the end of this session, participants will be able to :-</a:t>
            </a:r>
          </a:p>
          <a:p>
            <a:pPr marL="0" indent="0">
              <a:buNone/>
            </a:pPr>
            <a:endParaRPr lang="en-US" sz="3200" dirty="0"/>
          </a:p>
          <a:p>
            <a:pPr lvl="1">
              <a:buFont typeface="Courier New" panose="020B0604020202020204" pitchFamily="34" charset="0"/>
              <a:buChar char="o"/>
            </a:pPr>
            <a:r>
              <a:rPr lang="en-US" sz="2800" dirty="0"/>
              <a:t>Promote appropriate and evidence-based use of drains and tubes</a:t>
            </a:r>
          </a:p>
          <a:p>
            <a:pPr lvl="1">
              <a:buFont typeface="Courier New" panose="020B0604020202020204" pitchFamily="34" charset="0"/>
              <a:buChar char="o"/>
            </a:pPr>
            <a:endParaRPr lang="en-US" sz="2800" dirty="0"/>
          </a:p>
          <a:p>
            <a:pPr lvl="1">
              <a:buFont typeface="Courier New" panose="020B0604020202020204" pitchFamily="34" charset="0"/>
              <a:buChar char="o"/>
            </a:pPr>
            <a:r>
              <a:rPr lang="en-US" sz="2800" dirty="0"/>
              <a:t>Practice </a:t>
            </a:r>
            <a:r>
              <a:rPr lang="en-US" sz="2800" b="1" dirty="0"/>
              <a:t>selective use </a:t>
            </a:r>
            <a:r>
              <a:rPr lang="en-US" sz="2800" dirty="0"/>
              <a:t>and </a:t>
            </a:r>
            <a:r>
              <a:rPr lang="en-US" sz="2800" b="1" dirty="0"/>
              <a:t>early removal of drains and tubes</a:t>
            </a:r>
            <a:r>
              <a:rPr lang="en-US" sz="2800" dirty="0"/>
              <a:t> once they serve their intended functions</a:t>
            </a:r>
          </a:p>
          <a:p>
            <a:pPr lvl="1">
              <a:buFont typeface="Courier New" panose="020B0604020202020204" pitchFamily="34" charset="0"/>
              <a:buChar char="o"/>
            </a:pPr>
            <a:endParaRPr lang="en-US" sz="2800" dirty="0"/>
          </a:p>
          <a:p>
            <a:endParaRPr lang="en-US" sz="3200" dirty="0"/>
          </a:p>
        </p:txBody>
      </p:sp>
    </p:spTree>
    <p:extLst>
      <p:ext uri="{BB962C8B-B14F-4D97-AF65-F5344CB8AC3E}">
        <p14:creationId xmlns:p14="http://schemas.microsoft.com/office/powerpoint/2010/main" val="1317914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6B0F5-A51D-414B-6213-C10F4214C4DF}"/>
              </a:ext>
            </a:extLst>
          </p:cNvPr>
          <p:cNvSpPr>
            <a:spLocks noGrp="1"/>
          </p:cNvSpPr>
          <p:nvPr>
            <p:ph type="title"/>
          </p:nvPr>
        </p:nvSpPr>
        <p:spPr/>
        <p:txBody>
          <a:bodyPr/>
          <a:lstStyle/>
          <a:p>
            <a:r>
              <a:rPr lang="en-US"/>
              <a:t>Brainstorming</a:t>
            </a:r>
          </a:p>
        </p:txBody>
      </p:sp>
      <p:sp>
        <p:nvSpPr>
          <p:cNvPr id="3" name="Content Placeholder 2">
            <a:extLst>
              <a:ext uri="{FF2B5EF4-FFF2-40B4-BE49-F238E27FC236}">
                <a16:creationId xmlns:a16="http://schemas.microsoft.com/office/drawing/2014/main" id="{398E9193-C3A7-228C-42D2-22599A3E733E}"/>
              </a:ext>
            </a:extLst>
          </p:cNvPr>
          <p:cNvSpPr>
            <a:spLocks noGrp="1"/>
          </p:cNvSpPr>
          <p:nvPr>
            <p:ph sz="quarter" idx="1"/>
          </p:nvPr>
        </p:nvSpPr>
        <p:spPr>
          <a:xfrm>
            <a:off x="609600" y="2109018"/>
            <a:ext cx="10972800" cy="4047941"/>
          </a:xfrm>
        </p:spPr>
        <p:txBody>
          <a:bodyPr vert="horz" lIns="91440" tIns="45720" rIns="91440" bIns="45720" rtlCol="0" anchor="t">
            <a:normAutofit/>
          </a:bodyPr>
          <a:lstStyle/>
          <a:p>
            <a:r>
              <a:rPr lang="en-US" sz="3600" dirty="0"/>
              <a:t>What is your personal / your institutional principles/guidelines to put/remove drains and tubes?</a:t>
            </a:r>
          </a:p>
        </p:txBody>
      </p:sp>
    </p:spTree>
    <p:extLst>
      <p:ext uri="{BB962C8B-B14F-4D97-AF65-F5344CB8AC3E}">
        <p14:creationId xmlns:p14="http://schemas.microsoft.com/office/powerpoint/2010/main" val="4923572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AAE15-333E-91C0-B861-C6D40D58E0C4}"/>
              </a:ext>
            </a:extLst>
          </p:cNvPr>
          <p:cNvSpPr>
            <a:spLocks noGrp="1"/>
          </p:cNvSpPr>
          <p:nvPr>
            <p:ph type="title"/>
          </p:nvPr>
        </p:nvSpPr>
        <p:spPr>
          <a:xfrm>
            <a:off x="176981" y="152400"/>
            <a:ext cx="11901948" cy="776748"/>
          </a:xfrm>
        </p:spPr>
        <p:txBody>
          <a:bodyPr/>
          <a:lstStyle/>
          <a:p>
            <a:r>
              <a:rPr lang="en-US" dirty="0"/>
              <a:t>Introduction</a:t>
            </a:r>
          </a:p>
        </p:txBody>
      </p:sp>
      <p:sp>
        <p:nvSpPr>
          <p:cNvPr id="3" name="Content Placeholder 2">
            <a:extLst>
              <a:ext uri="{FF2B5EF4-FFF2-40B4-BE49-F238E27FC236}">
                <a16:creationId xmlns:a16="http://schemas.microsoft.com/office/drawing/2014/main" id="{97516A91-8BD7-DDDF-10B9-3C67D0252D07}"/>
              </a:ext>
            </a:extLst>
          </p:cNvPr>
          <p:cNvSpPr>
            <a:spLocks noGrp="1"/>
          </p:cNvSpPr>
          <p:nvPr>
            <p:ph sz="quarter" idx="1"/>
          </p:nvPr>
        </p:nvSpPr>
        <p:spPr>
          <a:xfrm>
            <a:off x="609599" y="1219199"/>
            <a:ext cx="11469329" cy="5137355"/>
          </a:xfrm>
        </p:spPr>
        <p:txBody>
          <a:bodyPr vert="horz" lIns="91440" tIns="45720" rIns="91440" bIns="45720" rtlCol="0" anchor="t">
            <a:normAutofit/>
          </a:bodyPr>
          <a:lstStyle/>
          <a:p>
            <a:r>
              <a:rPr lang="en-US" sz="2800" b="1" dirty="0">
                <a:ea typeface="+mn-lt"/>
                <a:cs typeface="+mn-lt"/>
              </a:rPr>
              <a:t>The basic idea</a:t>
            </a:r>
          </a:p>
          <a:p>
            <a:pPr lvl="1">
              <a:buFont typeface="Courier New" panose="020B0604020202020204" pitchFamily="34" charset="0"/>
              <a:buChar char="o"/>
            </a:pPr>
            <a:r>
              <a:rPr lang="en-US" dirty="0">
                <a:ea typeface="+mn-lt"/>
                <a:cs typeface="+mn-lt"/>
              </a:rPr>
              <a:t>A </a:t>
            </a:r>
            <a:r>
              <a:rPr lang="en-US" b="1" dirty="0">
                <a:ea typeface="+mn-lt"/>
                <a:cs typeface="+mn-lt"/>
              </a:rPr>
              <a:t>surgical drain</a:t>
            </a:r>
            <a:r>
              <a:rPr lang="en-US" dirty="0">
                <a:ea typeface="+mn-lt"/>
                <a:cs typeface="+mn-lt"/>
              </a:rPr>
              <a:t> is essentially a controlled exit path for fluid, blood or pus that may otherwise collect in the operative area</a:t>
            </a:r>
          </a:p>
          <a:p>
            <a:pPr lvl="1">
              <a:buFont typeface="Courier New" panose="020B0604020202020204" pitchFamily="34" charset="0"/>
              <a:buChar char="o"/>
            </a:pPr>
            <a:endParaRPr lang="en-US" dirty="0">
              <a:ea typeface="+mn-lt"/>
              <a:cs typeface="+mn-lt"/>
            </a:endParaRPr>
          </a:p>
          <a:p>
            <a:pPr lvl="1">
              <a:buFont typeface="Courier New" panose="020B0604020202020204" pitchFamily="34" charset="0"/>
              <a:buChar char="o"/>
            </a:pPr>
            <a:endParaRPr lang="en-US" dirty="0">
              <a:ea typeface="+mn-lt"/>
              <a:cs typeface="+mn-lt"/>
            </a:endParaRPr>
          </a:p>
          <a:p>
            <a:r>
              <a:rPr lang="en-US" sz="2800" b="1" dirty="0"/>
              <a:t>Purpose</a:t>
            </a:r>
          </a:p>
          <a:p>
            <a:pPr lvl="1">
              <a:buFont typeface="Courier New" panose="020B0604020202020204" pitchFamily="34" charset="0"/>
              <a:buChar char="o"/>
            </a:pPr>
            <a:r>
              <a:rPr lang="en-US" b="1" dirty="0">
                <a:ea typeface="+mn-lt"/>
                <a:cs typeface="+mn-lt"/>
              </a:rPr>
              <a:t>To evacuate unwanted collections</a:t>
            </a:r>
            <a:endParaRPr lang="en-US" dirty="0"/>
          </a:p>
          <a:p>
            <a:pPr lvl="2">
              <a:buFont typeface="Wingdings" panose="020B0604020202020204" pitchFamily="34" charset="0"/>
              <a:buChar char="§"/>
            </a:pPr>
            <a:r>
              <a:rPr lang="en-US" sz="2400" b="1" dirty="0">
                <a:ea typeface="+mn-lt"/>
                <a:cs typeface="+mn-lt"/>
              </a:rPr>
              <a:t>Blood</a:t>
            </a:r>
            <a:r>
              <a:rPr lang="en-US" sz="2400" dirty="0">
                <a:ea typeface="+mn-lt"/>
                <a:cs typeface="+mn-lt"/>
              </a:rPr>
              <a:t> → prevent hematoma</a:t>
            </a:r>
            <a:endParaRPr lang="en-US" sz="2400" dirty="0"/>
          </a:p>
          <a:p>
            <a:pPr lvl="2">
              <a:buFont typeface="Wingdings" panose="020B0604020202020204" pitchFamily="34" charset="0"/>
              <a:buChar char="§"/>
            </a:pPr>
            <a:r>
              <a:rPr lang="en-US" sz="2400" b="1" dirty="0">
                <a:ea typeface="+mn-lt"/>
                <a:cs typeface="+mn-lt"/>
              </a:rPr>
              <a:t>Serous fluid</a:t>
            </a:r>
            <a:r>
              <a:rPr lang="en-US" sz="2400" dirty="0">
                <a:ea typeface="+mn-lt"/>
                <a:cs typeface="+mn-lt"/>
              </a:rPr>
              <a:t> → prevent seroma</a:t>
            </a:r>
            <a:endParaRPr lang="en-US" sz="2400" dirty="0"/>
          </a:p>
          <a:p>
            <a:pPr lvl="2">
              <a:buFont typeface="Wingdings" panose="020B0604020202020204" pitchFamily="34" charset="0"/>
              <a:buChar char="§"/>
            </a:pPr>
            <a:r>
              <a:rPr lang="en-US" sz="2400" b="1" dirty="0">
                <a:ea typeface="+mn-lt"/>
                <a:cs typeface="+mn-lt"/>
              </a:rPr>
              <a:t>Pus</a:t>
            </a:r>
            <a:r>
              <a:rPr lang="en-US" sz="2400" dirty="0">
                <a:ea typeface="+mn-lt"/>
                <a:cs typeface="+mn-lt"/>
              </a:rPr>
              <a:t> → treat/prevent abscess recollection</a:t>
            </a:r>
            <a:endParaRPr lang="en-US" sz="2400" dirty="0"/>
          </a:p>
          <a:p>
            <a:pPr lvl="2">
              <a:buFont typeface="Wingdings" panose="020B0604020202020204" pitchFamily="34" charset="0"/>
              <a:buChar char="§"/>
            </a:pPr>
            <a:r>
              <a:rPr lang="en-US" sz="2400" b="1" dirty="0">
                <a:ea typeface="+mn-lt"/>
                <a:cs typeface="+mn-lt"/>
              </a:rPr>
              <a:t>Bile, pancreatic fluid, intestinal contents</a:t>
            </a:r>
            <a:r>
              <a:rPr lang="en-US" sz="2400" dirty="0">
                <a:ea typeface="+mn-lt"/>
                <a:cs typeface="+mn-lt"/>
              </a:rPr>
              <a:t> </a:t>
            </a:r>
            <a:r>
              <a:rPr lang="en-US" sz="2400" b="1" dirty="0">
                <a:ea typeface="+mn-lt"/>
                <a:cs typeface="+mn-lt"/>
              </a:rPr>
              <a:t>→ early detection of leaks</a:t>
            </a:r>
            <a:endParaRPr lang="en-US" sz="2400" b="1" dirty="0"/>
          </a:p>
          <a:p>
            <a:pPr lvl="1">
              <a:buFont typeface="Courier New" panose="020B0604020202020204" pitchFamily="34" charset="0"/>
              <a:buChar char="o"/>
            </a:pPr>
            <a:endParaRPr lang="en-US" dirty="0"/>
          </a:p>
        </p:txBody>
      </p:sp>
    </p:spTree>
    <p:extLst>
      <p:ext uri="{BB962C8B-B14F-4D97-AF65-F5344CB8AC3E}">
        <p14:creationId xmlns:p14="http://schemas.microsoft.com/office/powerpoint/2010/main" val="2658937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6F904-111B-4A16-3970-8D547F46D4DB}"/>
              </a:ext>
            </a:extLst>
          </p:cNvPr>
          <p:cNvSpPr>
            <a:spLocks noGrp="1"/>
          </p:cNvSpPr>
          <p:nvPr>
            <p:ph type="title"/>
          </p:nvPr>
        </p:nvSpPr>
        <p:spPr>
          <a:xfrm>
            <a:off x="609600" y="152400"/>
            <a:ext cx="10972800" cy="688258"/>
          </a:xfrm>
        </p:spPr>
        <p:txBody>
          <a:bodyPr>
            <a:normAutofit/>
          </a:bodyPr>
          <a:lstStyle/>
          <a:p>
            <a:pPr algn="r"/>
            <a:r>
              <a:rPr lang="en-US" sz="3200" dirty="0"/>
              <a:t>…Cont’d</a:t>
            </a:r>
          </a:p>
        </p:txBody>
      </p:sp>
      <p:sp>
        <p:nvSpPr>
          <p:cNvPr id="3" name="Content Placeholder 2">
            <a:extLst>
              <a:ext uri="{FF2B5EF4-FFF2-40B4-BE49-F238E27FC236}">
                <a16:creationId xmlns:a16="http://schemas.microsoft.com/office/drawing/2014/main" id="{75EE7521-133D-46C1-A63F-01C1364DFBEF}"/>
              </a:ext>
            </a:extLst>
          </p:cNvPr>
          <p:cNvSpPr>
            <a:spLocks noGrp="1"/>
          </p:cNvSpPr>
          <p:nvPr>
            <p:ph sz="quarter" idx="1"/>
          </p:nvPr>
        </p:nvSpPr>
        <p:spPr>
          <a:xfrm>
            <a:off x="609600" y="1219199"/>
            <a:ext cx="11582400" cy="5152103"/>
          </a:xfrm>
        </p:spPr>
        <p:txBody>
          <a:bodyPr vert="horz" lIns="91440" tIns="45720" rIns="91440" bIns="45720" rtlCol="0" anchor="t">
            <a:normAutofit/>
          </a:bodyPr>
          <a:lstStyle/>
          <a:p>
            <a:r>
              <a:rPr lang="en-US" sz="2800" b="1" dirty="0"/>
              <a:t>Tubes</a:t>
            </a:r>
          </a:p>
          <a:p>
            <a:pPr lvl="1">
              <a:buFont typeface="Courier New" panose="020B0604020202020204" pitchFamily="34" charset="0"/>
              <a:buChar char="o"/>
            </a:pPr>
            <a:r>
              <a:rPr lang="en-US" dirty="0"/>
              <a:t>Nasogastric(NG) tubes, transurethral catheters, T-tubes, Chest tubes</a:t>
            </a:r>
          </a:p>
          <a:p>
            <a:endParaRPr lang="en-US" dirty="0"/>
          </a:p>
          <a:p>
            <a:r>
              <a:rPr lang="en-US" b="1" dirty="0"/>
              <a:t>Drains</a:t>
            </a:r>
            <a:endParaRPr lang="en-US" dirty="0"/>
          </a:p>
          <a:p>
            <a:pPr lvl="1">
              <a:buFont typeface="Courier New" panose="020B0604020202020204" pitchFamily="34" charset="0"/>
              <a:buChar char="o"/>
            </a:pPr>
            <a:r>
              <a:rPr lang="en-US" sz="2400" b="1" dirty="0"/>
              <a:t>Purpose</a:t>
            </a:r>
          </a:p>
          <a:p>
            <a:pPr lvl="2">
              <a:buFont typeface="Wingdings" panose="020B0604020202020204" pitchFamily="34" charset="0"/>
              <a:buChar char="§"/>
            </a:pPr>
            <a:r>
              <a:rPr lang="en-US" sz="2400" dirty="0"/>
              <a:t>Therapeutic and prophylactic </a:t>
            </a:r>
          </a:p>
          <a:p>
            <a:pPr lvl="1">
              <a:buFont typeface="Courier New" panose="020B0604020202020204" pitchFamily="34" charset="0"/>
              <a:buChar char="o"/>
            </a:pPr>
            <a:endParaRPr lang="en-US" sz="2400" dirty="0"/>
          </a:p>
          <a:p>
            <a:pPr lvl="1">
              <a:buFont typeface="Courier New" panose="020B0604020202020204" pitchFamily="34" charset="0"/>
              <a:buChar char="o"/>
            </a:pPr>
            <a:r>
              <a:rPr lang="en-US" sz="2400" b="1" dirty="0"/>
              <a:t>Sites</a:t>
            </a:r>
          </a:p>
          <a:p>
            <a:pPr lvl="2">
              <a:buFont typeface="Wingdings" panose="020B0604020202020204" pitchFamily="34" charset="0"/>
              <a:buChar char="§"/>
            </a:pPr>
            <a:r>
              <a:rPr lang="en-US" sz="2400" dirty="0"/>
              <a:t>Intraabdominal (intracavitary, free -peritoneal, retroperitoneal, retropubic,…),wound-space (</a:t>
            </a:r>
            <a:r>
              <a:rPr lang="en-US" sz="2400" dirty="0" err="1"/>
              <a:t>e.g</a:t>
            </a:r>
            <a:r>
              <a:rPr lang="en-US" sz="2400" dirty="0"/>
              <a:t> Thyroidectomy, Mastectomy, Abscess cavity)</a:t>
            </a:r>
          </a:p>
          <a:p>
            <a:pPr lvl="1">
              <a:buFont typeface="Courier New" panose="020B0604020202020204" pitchFamily="34" charset="0"/>
              <a:buChar char="o"/>
            </a:pPr>
            <a:endParaRPr lang="en-US" dirty="0"/>
          </a:p>
          <a:p>
            <a:endParaRPr lang="en-US" dirty="0"/>
          </a:p>
        </p:txBody>
      </p:sp>
    </p:spTree>
    <p:extLst>
      <p:ext uri="{BB962C8B-B14F-4D97-AF65-F5344CB8AC3E}">
        <p14:creationId xmlns:p14="http://schemas.microsoft.com/office/powerpoint/2010/main" val="23089943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ECCDF-FE5F-0D88-EE6E-BED3A8B4455C}"/>
              </a:ext>
            </a:extLst>
          </p:cNvPr>
          <p:cNvSpPr>
            <a:spLocks noGrp="1"/>
          </p:cNvSpPr>
          <p:nvPr>
            <p:ph type="title"/>
          </p:nvPr>
        </p:nvSpPr>
        <p:spPr/>
        <p:txBody>
          <a:bodyPr>
            <a:normAutofit/>
          </a:bodyPr>
          <a:lstStyle/>
          <a:p>
            <a:r>
              <a:rPr lang="en-US" sz="4400" b="1" dirty="0">
                <a:latin typeface="Calibri"/>
                <a:ea typeface="Calibri"/>
                <a:cs typeface="Calibri"/>
              </a:rPr>
              <a:t>When to Use (General Indications)</a:t>
            </a:r>
            <a:endParaRPr lang="en-US" sz="8000" dirty="0"/>
          </a:p>
        </p:txBody>
      </p:sp>
      <p:sp>
        <p:nvSpPr>
          <p:cNvPr id="3" name="Content Placeholder 2">
            <a:extLst>
              <a:ext uri="{FF2B5EF4-FFF2-40B4-BE49-F238E27FC236}">
                <a16:creationId xmlns:a16="http://schemas.microsoft.com/office/drawing/2014/main" id="{5D3954ED-5B60-8F1F-567C-BBBCDEAE42E8}"/>
              </a:ext>
            </a:extLst>
          </p:cNvPr>
          <p:cNvSpPr>
            <a:spLocks noGrp="1"/>
          </p:cNvSpPr>
          <p:nvPr>
            <p:ph sz="quarter" idx="1"/>
          </p:nvPr>
        </p:nvSpPr>
        <p:spPr/>
        <p:txBody>
          <a:bodyPr vert="horz" lIns="91440" tIns="45720" rIns="91440" bIns="45720" rtlCol="0" anchor="t">
            <a:normAutofit/>
          </a:bodyPr>
          <a:lstStyle/>
          <a:p>
            <a:pPr marL="0" indent="0">
              <a:buNone/>
            </a:pPr>
            <a:endParaRPr lang="en-US" b="1" dirty="0"/>
          </a:p>
          <a:p>
            <a:r>
              <a:rPr lang="en-US" b="1" dirty="0">
                <a:ea typeface="+mn-lt"/>
                <a:cs typeface="+mn-lt"/>
              </a:rPr>
              <a:t>After major resections</a:t>
            </a:r>
            <a:r>
              <a:rPr lang="en-US" dirty="0">
                <a:ea typeface="+mn-lt"/>
                <a:cs typeface="+mn-lt"/>
              </a:rPr>
              <a:t> (pancreatic, hepatic)</a:t>
            </a:r>
          </a:p>
          <a:p>
            <a:endParaRPr lang="en-US" dirty="0"/>
          </a:p>
          <a:p>
            <a:r>
              <a:rPr lang="en-US" b="1" dirty="0">
                <a:ea typeface="+mn-lt"/>
                <a:cs typeface="+mn-lt"/>
              </a:rPr>
              <a:t>Near high-risk anastomoses</a:t>
            </a:r>
            <a:r>
              <a:rPr lang="en-US" dirty="0">
                <a:ea typeface="+mn-lt"/>
                <a:cs typeface="+mn-lt"/>
              </a:rPr>
              <a:t> (esophageal, </a:t>
            </a:r>
            <a:r>
              <a:rPr lang="en-US" dirty="0" err="1">
                <a:ea typeface="+mn-lt"/>
                <a:cs typeface="+mn-lt"/>
              </a:rPr>
              <a:t>pancreatico</a:t>
            </a:r>
            <a:r>
              <a:rPr lang="en-US" dirty="0">
                <a:ea typeface="+mn-lt"/>
                <a:cs typeface="+mn-lt"/>
              </a:rPr>
              <a:t>-jejunostomy)</a:t>
            </a:r>
          </a:p>
          <a:p>
            <a:endParaRPr lang="en-US" dirty="0"/>
          </a:p>
          <a:p>
            <a:r>
              <a:rPr lang="en-US" b="1" dirty="0">
                <a:ea typeface="+mn-lt"/>
                <a:cs typeface="+mn-lt"/>
              </a:rPr>
              <a:t>After abscess drainage</a:t>
            </a:r>
            <a:r>
              <a:rPr lang="en-US" dirty="0">
                <a:ea typeface="+mn-lt"/>
                <a:cs typeface="+mn-lt"/>
              </a:rPr>
              <a:t> (post-appendicular, diverticular)</a:t>
            </a:r>
          </a:p>
          <a:p>
            <a:endParaRPr lang="en-US" dirty="0"/>
          </a:p>
          <a:p>
            <a:r>
              <a:rPr lang="en-US" b="1" dirty="0">
                <a:ea typeface="+mn-lt"/>
                <a:cs typeface="+mn-lt"/>
              </a:rPr>
              <a:t>Biliary surgery</a:t>
            </a:r>
            <a:r>
              <a:rPr lang="en-US" dirty="0">
                <a:ea typeface="+mn-lt"/>
                <a:cs typeface="+mn-lt"/>
              </a:rPr>
              <a:t> with questionable duct closure or high risk of leak</a:t>
            </a:r>
          </a:p>
          <a:p>
            <a:endParaRPr lang="en-US" dirty="0"/>
          </a:p>
          <a:p>
            <a:r>
              <a:rPr lang="en-US" b="1" dirty="0">
                <a:ea typeface="+mn-lt"/>
                <a:cs typeface="+mn-lt"/>
              </a:rPr>
              <a:t>Trauma surgery</a:t>
            </a:r>
            <a:r>
              <a:rPr lang="en-US" dirty="0">
                <a:ea typeface="+mn-lt"/>
                <a:cs typeface="+mn-lt"/>
              </a:rPr>
              <a:t> where contamination or bleeding risk is high</a:t>
            </a:r>
            <a:endParaRPr lang="en-US" dirty="0"/>
          </a:p>
          <a:p>
            <a:endParaRPr lang="en-US" dirty="0"/>
          </a:p>
        </p:txBody>
      </p:sp>
    </p:spTree>
    <p:extLst>
      <p:ext uri="{BB962C8B-B14F-4D97-AF65-F5344CB8AC3E}">
        <p14:creationId xmlns:p14="http://schemas.microsoft.com/office/powerpoint/2010/main" val="2465558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96E2E-DFBE-8AC7-839A-05C856AE908A}"/>
              </a:ext>
            </a:extLst>
          </p:cNvPr>
          <p:cNvSpPr>
            <a:spLocks noGrp="1"/>
          </p:cNvSpPr>
          <p:nvPr>
            <p:ph type="title"/>
          </p:nvPr>
        </p:nvSpPr>
        <p:spPr>
          <a:xfrm>
            <a:off x="609600" y="152400"/>
            <a:ext cx="10972800" cy="850490"/>
          </a:xfrm>
        </p:spPr>
        <p:txBody>
          <a:bodyPr/>
          <a:lstStyle/>
          <a:p>
            <a:r>
              <a:rPr lang="en-US" dirty="0"/>
              <a:t>ERAS recommendations</a:t>
            </a:r>
          </a:p>
        </p:txBody>
      </p:sp>
      <p:sp>
        <p:nvSpPr>
          <p:cNvPr id="3" name="Content Placeholder 2">
            <a:extLst>
              <a:ext uri="{FF2B5EF4-FFF2-40B4-BE49-F238E27FC236}">
                <a16:creationId xmlns:a16="http://schemas.microsoft.com/office/drawing/2014/main" id="{C7BBE98B-C04C-9784-7103-9A1D378E17BB}"/>
              </a:ext>
            </a:extLst>
          </p:cNvPr>
          <p:cNvSpPr>
            <a:spLocks noGrp="1"/>
          </p:cNvSpPr>
          <p:nvPr>
            <p:ph sz="quarter" idx="1"/>
          </p:nvPr>
        </p:nvSpPr>
        <p:spPr/>
        <p:txBody>
          <a:bodyPr vert="horz" lIns="91440" tIns="45720" rIns="91440" bIns="45720" rtlCol="0" anchor="t">
            <a:normAutofit/>
          </a:bodyPr>
          <a:lstStyle/>
          <a:p>
            <a:r>
              <a:rPr lang="en-US" sz="2800" b="1" dirty="0"/>
              <a:t>Selective use </a:t>
            </a:r>
            <a:r>
              <a:rPr lang="en-US" b="1" dirty="0"/>
              <a:t>(avoid routine use)</a:t>
            </a:r>
          </a:p>
          <a:p>
            <a:pPr lvl="1">
              <a:buFont typeface="Courier New" panose="020B0604020202020204" pitchFamily="34" charset="0"/>
              <a:buChar char="o"/>
            </a:pPr>
            <a:r>
              <a:rPr lang="en-US" b="1" dirty="0">
                <a:ea typeface="+mn-lt"/>
                <a:cs typeface="+mn-lt"/>
              </a:rPr>
              <a:t>Avoiding “</a:t>
            </a:r>
            <a:r>
              <a:rPr lang="en-US" b="1" dirty="0" err="1">
                <a:ea typeface="+mn-lt"/>
                <a:cs typeface="+mn-lt"/>
              </a:rPr>
              <a:t>Drainomania</a:t>
            </a:r>
            <a:r>
              <a:rPr lang="en-US" b="1" dirty="0">
                <a:ea typeface="+mn-lt"/>
                <a:cs typeface="+mn-lt"/>
              </a:rPr>
              <a:t>”</a:t>
            </a:r>
          </a:p>
          <a:p>
            <a:pPr lvl="1">
              <a:buFont typeface="Courier New" panose="020B0604020202020204" pitchFamily="34" charset="0"/>
              <a:buChar char="o"/>
            </a:pPr>
            <a:endParaRPr lang="en-US" b="1" dirty="0">
              <a:ea typeface="+mn-lt"/>
              <a:cs typeface="+mn-lt"/>
            </a:endParaRPr>
          </a:p>
          <a:p>
            <a:pPr lvl="1">
              <a:buFont typeface="Courier New" panose="020B0604020202020204" pitchFamily="34" charset="0"/>
              <a:buChar char="o"/>
            </a:pPr>
            <a:endParaRPr lang="en-US" dirty="0"/>
          </a:p>
          <a:p>
            <a:r>
              <a:rPr lang="en-US" sz="3200" b="1" dirty="0"/>
              <a:t>Early removal</a:t>
            </a:r>
          </a:p>
          <a:p>
            <a:pPr lvl="1">
              <a:buFont typeface="Courier New" panose="020B0604020202020204" pitchFamily="34" charset="0"/>
              <a:buChar char="o"/>
            </a:pPr>
            <a:endParaRPr lang="en-US" dirty="0"/>
          </a:p>
          <a:p>
            <a:pPr lvl="1">
              <a:buFont typeface="Courier New" panose="020B0604020202020204" pitchFamily="34" charset="0"/>
              <a:buChar char="o"/>
            </a:pPr>
            <a:r>
              <a:rPr lang="en-US" b="1" dirty="0"/>
              <a:t>Rationale</a:t>
            </a:r>
            <a:endParaRPr lang="en-US" sz="2000" b="1" dirty="0"/>
          </a:p>
          <a:p>
            <a:pPr lvl="2">
              <a:buFont typeface="Wingdings" panose="020B0604020202020204" pitchFamily="34" charset="0"/>
              <a:buChar char="§"/>
            </a:pPr>
            <a:r>
              <a:rPr lang="en-US" sz="2400" dirty="0">
                <a:ea typeface="+mn-lt"/>
                <a:cs typeface="+mn-lt"/>
              </a:rPr>
              <a:t>drains can themselves </a:t>
            </a:r>
            <a:r>
              <a:rPr lang="en-US" sz="2400" b="1" dirty="0">
                <a:ea typeface="+mn-lt"/>
                <a:cs typeface="+mn-lt"/>
              </a:rPr>
              <a:t>increase infection risk </a:t>
            </a:r>
            <a:r>
              <a:rPr lang="en-US" sz="2400" dirty="0">
                <a:ea typeface="+mn-lt"/>
                <a:cs typeface="+mn-lt"/>
              </a:rPr>
              <a:t>and</a:t>
            </a:r>
            <a:r>
              <a:rPr lang="en-US" dirty="0">
                <a:ea typeface="+mn-lt"/>
                <a:cs typeface="+mn-lt"/>
              </a:rPr>
              <a:t> </a:t>
            </a:r>
            <a:r>
              <a:rPr lang="en-US" sz="2400" b="1" dirty="0">
                <a:ea typeface="+mn-lt"/>
                <a:cs typeface="+mn-lt"/>
              </a:rPr>
              <a:t>delay patient mobility</a:t>
            </a:r>
            <a:endParaRPr lang="en-US" b="1" dirty="0"/>
          </a:p>
          <a:p>
            <a:endParaRPr lang="en-US" dirty="0"/>
          </a:p>
          <a:p>
            <a:pPr marL="914400" lvl="2" indent="0">
              <a:buNone/>
            </a:pPr>
            <a:endParaRPr lang="en-US" dirty="0"/>
          </a:p>
          <a:p>
            <a:endParaRPr lang="en-US" dirty="0"/>
          </a:p>
          <a:p>
            <a:endParaRPr lang="en-US" dirty="0"/>
          </a:p>
        </p:txBody>
      </p:sp>
    </p:spTree>
    <p:extLst>
      <p:ext uri="{BB962C8B-B14F-4D97-AF65-F5344CB8AC3E}">
        <p14:creationId xmlns:p14="http://schemas.microsoft.com/office/powerpoint/2010/main" val="4178079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9FAB-D903-5DE5-87FA-FE6D4C95BB73}"/>
              </a:ext>
            </a:extLst>
          </p:cNvPr>
          <p:cNvSpPr>
            <a:spLocks noGrp="1"/>
          </p:cNvSpPr>
          <p:nvPr>
            <p:ph type="title"/>
          </p:nvPr>
        </p:nvSpPr>
        <p:spPr>
          <a:xfrm>
            <a:off x="609600" y="152400"/>
            <a:ext cx="10972800" cy="548640"/>
          </a:xfrm>
        </p:spPr>
        <p:txBody>
          <a:bodyPr>
            <a:normAutofit fontScale="90000"/>
          </a:bodyPr>
          <a:lstStyle/>
          <a:p>
            <a:pPr algn="r"/>
            <a:r>
              <a:rPr lang="en-US" dirty="0"/>
              <a:t>…Cont’d</a:t>
            </a:r>
          </a:p>
        </p:txBody>
      </p:sp>
      <p:sp>
        <p:nvSpPr>
          <p:cNvPr id="3" name="Content Placeholder 2">
            <a:extLst>
              <a:ext uri="{FF2B5EF4-FFF2-40B4-BE49-F238E27FC236}">
                <a16:creationId xmlns:a16="http://schemas.microsoft.com/office/drawing/2014/main" id="{A5C139C8-BF68-FB61-9004-F98210640F9E}"/>
              </a:ext>
            </a:extLst>
          </p:cNvPr>
          <p:cNvSpPr>
            <a:spLocks noGrp="1"/>
          </p:cNvSpPr>
          <p:nvPr>
            <p:ph sz="quarter" idx="1"/>
          </p:nvPr>
        </p:nvSpPr>
        <p:spPr>
          <a:xfrm>
            <a:off x="353961" y="1219200"/>
            <a:ext cx="11228439" cy="4937760"/>
          </a:xfrm>
        </p:spPr>
        <p:txBody>
          <a:bodyPr vert="horz" lIns="91440" tIns="45720" rIns="91440" bIns="45720" rtlCol="0" anchor="t">
            <a:normAutofit/>
          </a:bodyPr>
          <a:lstStyle/>
          <a:p>
            <a:r>
              <a:rPr lang="en-US" dirty="0">
                <a:ea typeface="+mn-lt"/>
                <a:cs typeface="+mn-lt"/>
              </a:rPr>
              <a:t>“In ERAS, tubes are </a:t>
            </a:r>
            <a:r>
              <a:rPr lang="en-US" b="1" dirty="0">
                <a:ea typeface="+mn-lt"/>
                <a:cs typeface="+mn-lt"/>
              </a:rPr>
              <a:t>indications-only</a:t>
            </a:r>
            <a:r>
              <a:rPr lang="en-US" dirty="0">
                <a:ea typeface="+mn-lt"/>
                <a:cs typeface="+mn-lt"/>
              </a:rPr>
              <a:t> and </a:t>
            </a:r>
            <a:r>
              <a:rPr lang="en-US" b="1" dirty="0">
                <a:ea typeface="+mn-lt"/>
                <a:cs typeface="+mn-lt"/>
              </a:rPr>
              <a:t>time-limited</a:t>
            </a:r>
          </a:p>
          <a:p>
            <a:endParaRPr lang="en-US" b="1" dirty="0">
              <a:ea typeface="+mn-lt"/>
              <a:cs typeface="+mn-lt"/>
            </a:endParaRPr>
          </a:p>
          <a:p>
            <a:r>
              <a:rPr lang="en-US" dirty="0">
                <a:ea typeface="+mn-lt"/>
                <a:cs typeface="+mn-lt"/>
              </a:rPr>
              <a:t> If we can’t write the removal trigger when we place it, we probably shouldn’t place it”</a:t>
            </a:r>
          </a:p>
          <a:p>
            <a:endParaRPr lang="en-US" dirty="0">
              <a:ea typeface="+mn-lt"/>
              <a:cs typeface="+mn-lt"/>
            </a:endParaRPr>
          </a:p>
          <a:p>
            <a:endParaRPr lang="en-US" dirty="0"/>
          </a:p>
          <a:p>
            <a:r>
              <a:rPr lang="en-US" dirty="0">
                <a:ea typeface="+mn-lt"/>
                <a:cs typeface="+mn-lt"/>
              </a:rPr>
              <a:t>“Early oral intake and mobility beat NGs and lines</a:t>
            </a:r>
          </a:p>
          <a:p>
            <a:endParaRPr lang="en-US" dirty="0">
              <a:ea typeface="+mn-lt"/>
              <a:cs typeface="+mn-lt"/>
            </a:endParaRPr>
          </a:p>
          <a:p>
            <a:r>
              <a:rPr lang="en-US" dirty="0">
                <a:ea typeface="+mn-lt"/>
                <a:cs typeface="+mn-lt"/>
              </a:rPr>
              <a:t> Every extra day with a tube costs us steps, calories, and independence”</a:t>
            </a:r>
            <a:endParaRPr lang="en-US" dirty="0"/>
          </a:p>
          <a:p>
            <a:endParaRPr lang="en-US" dirty="0"/>
          </a:p>
        </p:txBody>
      </p:sp>
    </p:spTree>
    <p:extLst>
      <p:ext uri="{BB962C8B-B14F-4D97-AF65-F5344CB8AC3E}">
        <p14:creationId xmlns:p14="http://schemas.microsoft.com/office/powerpoint/2010/main" val="15231567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D6E5B-E08F-BF30-12FD-CD5854B93EAE}"/>
              </a:ext>
            </a:extLst>
          </p:cNvPr>
          <p:cNvSpPr>
            <a:spLocks noGrp="1"/>
          </p:cNvSpPr>
          <p:nvPr>
            <p:ph type="title"/>
          </p:nvPr>
        </p:nvSpPr>
        <p:spPr>
          <a:xfrm>
            <a:off x="0" y="152400"/>
            <a:ext cx="12192000" cy="990600"/>
          </a:xfrm>
        </p:spPr>
        <p:txBody>
          <a:bodyPr>
            <a:normAutofit/>
          </a:bodyPr>
          <a:lstStyle/>
          <a:p>
            <a:r>
              <a:rPr lang="en-US" sz="3200" b="1" dirty="0">
                <a:latin typeface="Aptos"/>
              </a:rPr>
              <a:t>When </a:t>
            </a:r>
            <a:r>
              <a:rPr lang="en-US" b="1" dirty="0">
                <a:latin typeface="Aptos"/>
              </a:rPr>
              <a:t>Not to Use </a:t>
            </a:r>
            <a:r>
              <a:rPr lang="en-US" sz="3200" b="1" dirty="0">
                <a:latin typeface="Aptos"/>
              </a:rPr>
              <a:t>(Avoiding “</a:t>
            </a:r>
            <a:r>
              <a:rPr lang="en-US" sz="3200" b="1" dirty="0" err="1">
                <a:latin typeface="Aptos"/>
              </a:rPr>
              <a:t>Drainomania</a:t>
            </a:r>
            <a:r>
              <a:rPr lang="en-US" sz="3200" b="1" dirty="0">
                <a:latin typeface="Aptos"/>
              </a:rPr>
              <a:t>”)</a:t>
            </a:r>
            <a:endParaRPr lang="en-US" sz="4400" dirty="0"/>
          </a:p>
        </p:txBody>
      </p:sp>
      <p:sp>
        <p:nvSpPr>
          <p:cNvPr id="3" name="Content Placeholder 2">
            <a:extLst>
              <a:ext uri="{FF2B5EF4-FFF2-40B4-BE49-F238E27FC236}">
                <a16:creationId xmlns:a16="http://schemas.microsoft.com/office/drawing/2014/main" id="{D0469F08-9197-7358-B73A-5CE3BD7A6B31}"/>
              </a:ext>
            </a:extLst>
          </p:cNvPr>
          <p:cNvSpPr>
            <a:spLocks noGrp="1"/>
          </p:cNvSpPr>
          <p:nvPr>
            <p:ph sz="quarter" idx="1"/>
          </p:nvPr>
        </p:nvSpPr>
        <p:spPr>
          <a:xfrm>
            <a:off x="609600" y="1219199"/>
            <a:ext cx="11582400" cy="5152103"/>
          </a:xfrm>
        </p:spPr>
        <p:txBody>
          <a:bodyPr vert="horz" lIns="91440" tIns="45720" rIns="91440" bIns="45720" rtlCol="0" anchor="t">
            <a:normAutofit lnSpcReduction="10000"/>
          </a:bodyPr>
          <a:lstStyle/>
          <a:p>
            <a:pPr>
              <a:buFont typeface="Wingdings" panose="05000000000000000000" pitchFamily="2" charset="2"/>
              <a:buChar char="Ø"/>
            </a:pPr>
            <a:endParaRPr lang="en-US" b="1" dirty="0"/>
          </a:p>
          <a:p>
            <a:pPr>
              <a:buFont typeface="Wingdings" panose="05000000000000000000" pitchFamily="2" charset="2"/>
              <a:buChar char="Ø"/>
            </a:pPr>
            <a:r>
              <a:rPr lang="en-US" b="1" dirty="0">
                <a:ea typeface="+mn-lt"/>
                <a:cs typeface="+mn-lt"/>
              </a:rPr>
              <a:t>Clean, low-risk cases</a:t>
            </a:r>
          </a:p>
          <a:p>
            <a:pPr lvl="1">
              <a:buFont typeface="Courier New" panose="02070309020205020404" pitchFamily="49" charset="0"/>
              <a:buChar char="o"/>
            </a:pPr>
            <a:r>
              <a:rPr lang="en-US" dirty="0">
                <a:solidFill>
                  <a:schemeClr val="tx1"/>
                </a:solidFill>
                <a:ea typeface="+mn-lt"/>
                <a:cs typeface="+mn-lt"/>
              </a:rPr>
              <a:t>elective uncomplicated cholecystectomy, small bowel resection with healthy bowel</a:t>
            </a:r>
            <a:endParaRPr lang="en-US" dirty="0">
              <a:solidFill>
                <a:schemeClr val="tx1"/>
              </a:solidFill>
            </a:endParaRPr>
          </a:p>
          <a:p>
            <a:pPr lvl="1">
              <a:buFont typeface="Courier New" panose="020B0604020202020204" pitchFamily="34" charset="0"/>
              <a:buChar char="o"/>
            </a:pPr>
            <a:endParaRPr lang="en-US" dirty="0">
              <a:solidFill>
                <a:schemeClr val="tx1"/>
              </a:solidFill>
              <a:ea typeface="+mn-lt"/>
              <a:cs typeface="+mn-lt"/>
            </a:endParaRPr>
          </a:p>
          <a:p>
            <a:pPr lvl="1">
              <a:buFont typeface="Courier New" panose="020B0604020202020204" pitchFamily="34" charset="0"/>
              <a:buChar char="o"/>
            </a:pPr>
            <a:r>
              <a:rPr lang="en-US" dirty="0">
                <a:solidFill>
                  <a:schemeClr val="tx1"/>
                </a:solidFill>
                <a:ea typeface="+mn-lt"/>
                <a:cs typeface="+mn-lt"/>
              </a:rPr>
              <a:t>When drain placement may injure tissue or create a fistula</a:t>
            </a:r>
          </a:p>
          <a:p>
            <a:pPr lvl="1">
              <a:buFont typeface="Courier New" panose="020B0604020202020204" pitchFamily="34" charset="0"/>
              <a:buChar char="o"/>
            </a:pPr>
            <a:endParaRPr lang="en-US" dirty="0">
              <a:solidFill>
                <a:schemeClr val="tx1"/>
              </a:solidFill>
            </a:endParaRPr>
          </a:p>
          <a:p>
            <a:r>
              <a:rPr lang="en-US" b="1" dirty="0">
                <a:ea typeface="+mn-lt"/>
                <a:cs typeface="+mn-lt"/>
              </a:rPr>
              <a:t>Bottom line</a:t>
            </a:r>
            <a:r>
              <a:rPr lang="en-US" dirty="0">
                <a:ea typeface="+mn-lt"/>
                <a:cs typeface="+mn-lt"/>
              </a:rPr>
              <a:t> </a:t>
            </a:r>
          </a:p>
          <a:p>
            <a:pPr lvl="1"/>
            <a:r>
              <a:rPr lang="en-US" dirty="0">
                <a:solidFill>
                  <a:schemeClr val="tx1"/>
                </a:solidFill>
                <a:ea typeface="+mn-lt"/>
                <a:cs typeface="+mn-lt"/>
              </a:rPr>
              <a:t>In modern abdominal surgery, drains are not a default</a:t>
            </a:r>
          </a:p>
          <a:p>
            <a:pPr marL="274320" lvl="1" indent="0">
              <a:buNone/>
            </a:pPr>
            <a:r>
              <a:rPr lang="en-US" dirty="0">
                <a:solidFill>
                  <a:schemeClr val="tx1"/>
                </a:solidFill>
                <a:ea typeface="+mn-lt"/>
                <a:cs typeface="+mn-lt"/>
              </a:rPr>
              <a:t>       — they are a selective, purposeful tool</a:t>
            </a:r>
          </a:p>
          <a:p>
            <a:pPr lvl="1">
              <a:buFont typeface="Courier New" panose="020B0604020202020204" pitchFamily="34" charset="0"/>
              <a:buChar char="o"/>
            </a:pPr>
            <a:r>
              <a:rPr lang="en-US" dirty="0">
                <a:solidFill>
                  <a:schemeClr val="tx1"/>
                </a:solidFill>
                <a:ea typeface="+mn-lt"/>
                <a:cs typeface="+mn-lt"/>
              </a:rPr>
              <a:t>The decision should always be </a:t>
            </a:r>
            <a:r>
              <a:rPr lang="en-US" b="1" i="1" dirty="0">
                <a:solidFill>
                  <a:schemeClr val="tx1"/>
                </a:solidFill>
                <a:ea typeface="+mn-lt"/>
                <a:cs typeface="+mn-lt"/>
              </a:rPr>
              <a:t>proactive</a:t>
            </a:r>
            <a:r>
              <a:rPr lang="en-US" b="1" dirty="0">
                <a:solidFill>
                  <a:schemeClr val="tx1"/>
                </a:solidFill>
                <a:ea typeface="+mn-lt"/>
                <a:cs typeface="+mn-lt"/>
              </a:rPr>
              <a:t>, not </a:t>
            </a:r>
            <a:r>
              <a:rPr lang="en-US" b="1" i="1" dirty="0">
                <a:solidFill>
                  <a:schemeClr val="tx1"/>
                </a:solidFill>
                <a:ea typeface="+mn-lt"/>
                <a:cs typeface="+mn-lt"/>
              </a:rPr>
              <a:t>habitual</a:t>
            </a:r>
          </a:p>
          <a:p>
            <a:pPr lvl="1">
              <a:buFont typeface="Courier New" panose="020B0604020202020204" pitchFamily="34" charset="0"/>
              <a:buChar char="o"/>
            </a:pPr>
            <a:endParaRPr lang="en-US" dirty="0">
              <a:ea typeface="+mn-lt"/>
              <a:cs typeface="+mn-lt"/>
            </a:endParaRPr>
          </a:p>
          <a:p>
            <a:pPr>
              <a:buFont typeface="Courier New" panose="020B0604020202020204" pitchFamily="34" charset="0"/>
              <a:buChar char="o"/>
            </a:pPr>
            <a:r>
              <a:rPr lang="en-US" dirty="0">
                <a:ea typeface="+mn-lt"/>
                <a:cs typeface="+mn-lt"/>
              </a:rPr>
              <a:t>They are there </a:t>
            </a:r>
            <a:r>
              <a:rPr lang="en-US" b="1" dirty="0">
                <a:ea typeface="+mn-lt"/>
                <a:cs typeface="+mn-lt"/>
              </a:rPr>
              <a:t>to protect the patient</a:t>
            </a:r>
            <a:r>
              <a:rPr lang="en-US" dirty="0">
                <a:ea typeface="+mn-lt"/>
                <a:cs typeface="+mn-lt"/>
              </a:rPr>
              <a:t>, </a:t>
            </a:r>
            <a:r>
              <a:rPr lang="en-US" b="1" dirty="0">
                <a:ea typeface="+mn-lt"/>
                <a:cs typeface="+mn-lt"/>
              </a:rPr>
              <a:t>not to reassure the surgeon</a:t>
            </a:r>
            <a:endParaRPr lang="en-US" b="1" dirty="0"/>
          </a:p>
          <a:p>
            <a:endParaRPr lang="en-US" dirty="0"/>
          </a:p>
          <a:p>
            <a:endParaRPr lang="en-US" dirty="0"/>
          </a:p>
        </p:txBody>
      </p:sp>
    </p:spTree>
    <p:extLst>
      <p:ext uri="{BB962C8B-B14F-4D97-AF65-F5344CB8AC3E}">
        <p14:creationId xmlns:p14="http://schemas.microsoft.com/office/powerpoint/2010/main" val="13886361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56CD5-B62A-C4BF-F392-42DCBF8417BE}"/>
              </a:ext>
            </a:extLst>
          </p:cNvPr>
          <p:cNvSpPr>
            <a:spLocks noGrp="1"/>
          </p:cNvSpPr>
          <p:nvPr>
            <p:ph type="title"/>
          </p:nvPr>
        </p:nvSpPr>
        <p:spPr/>
        <p:txBody>
          <a:bodyPr>
            <a:normAutofit/>
          </a:bodyPr>
          <a:lstStyle/>
          <a:p>
            <a:r>
              <a:rPr lang="en-US" dirty="0"/>
              <a:t>Nasogastric (NG) tubes</a:t>
            </a:r>
          </a:p>
        </p:txBody>
      </p:sp>
      <p:sp>
        <p:nvSpPr>
          <p:cNvPr id="3" name="Content Placeholder 2">
            <a:extLst>
              <a:ext uri="{FF2B5EF4-FFF2-40B4-BE49-F238E27FC236}">
                <a16:creationId xmlns:a16="http://schemas.microsoft.com/office/drawing/2014/main" id="{4408B885-4E2D-B739-9130-DFAB218395E3}"/>
              </a:ext>
            </a:extLst>
          </p:cNvPr>
          <p:cNvSpPr>
            <a:spLocks noGrp="1"/>
          </p:cNvSpPr>
          <p:nvPr>
            <p:ph sz="quarter" idx="1"/>
          </p:nvPr>
        </p:nvSpPr>
        <p:spPr>
          <a:xfrm>
            <a:off x="294968" y="1219200"/>
            <a:ext cx="11897032" cy="4937760"/>
          </a:xfrm>
        </p:spPr>
        <p:txBody>
          <a:bodyPr vert="horz" lIns="91440" tIns="45720" rIns="91440" bIns="45720" rtlCol="0" anchor="t">
            <a:normAutofit/>
          </a:bodyPr>
          <a:lstStyle/>
          <a:p>
            <a:r>
              <a:rPr lang="en-US" b="1" dirty="0">
                <a:ea typeface="+mn-lt"/>
                <a:cs typeface="+mn-lt"/>
              </a:rPr>
              <a:t>ERAS Default:</a:t>
            </a:r>
            <a:r>
              <a:rPr lang="en-US" dirty="0">
                <a:ea typeface="+mn-lt"/>
                <a:cs typeface="+mn-lt"/>
              </a:rPr>
              <a:t> </a:t>
            </a:r>
            <a:r>
              <a:rPr lang="en-US" i="1" dirty="0">
                <a:ea typeface="+mn-lt"/>
                <a:cs typeface="+mn-lt"/>
              </a:rPr>
              <a:t>Avoid routine postoperative decompression; remove before </a:t>
            </a:r>
            <a:r>
              <a:rPr lang="en-US" i="1" dirty="0" err="1">
                <a:ea typeface="+mn-lt"/>
                <a:cs typeface="+mn-lt"/>
              </a:rPr>
              <a:t>extubation</a:t>
            </a:r>
            <a:endParaRPr lang="en-US" dirty="0"/>
          </a:p>
          <a:p>
            <a:r>
              <a:rPr lang="en-US" dirty="0">
                <a:ea typeface="+mn-lt"/>
                <a:cs typeface="+mn-lt"/>
              </a:rPr>
              <a:t>Routine NG after colorectal surgery </a:t>
            </a:r>
            <a:r>
              <a:rPr lang="en-US" b="1" dirty="0">
                <a:ea typeface="+mn-lt"/>
                <a:cs typeface="+mn-lt"/>
              </a:rPr>
              <a:t>delays feeding</a:t>
            </a:r>
            <a:r>
              <a:rPr lang="en-US" dirty="0">
                <a:ea typeface="+mn-lt"/>
                <a:cs typeface="+mn-lt"/>
              </a:rPr>
              <a:t> and </a:t>
            </a:r>
            <a:r>
              <a:rPr lang="en-US" b="1" dirty="0">
                <a:ea typeface="+mn-lt"/>
                <a:cs typeface="+mn-lt"/>
              </a:rPr>
              <a:t>adds complications</a:t>
            </a:r>
            <a:r>
              <a:rPr lang="en-US" dirty="0">
                <a:ea typeface="+mn-lt"/>
                <a:cs typeface="+mn-lt"/>
              </a:rPr>
              <a:t> without benefit → don’t do it.</a:t>
            </a:r>
          </a:p>
          <a:p>
            <a:r>
              <a:rPr lang="en-US" dirty="0">
                <a:ea typeface="+mn-lt"/>
                <a:cs typeface="+mn-lt"/>
              </a:rPr>
              <a:t> If placed intra-op, take it out at the end. Reinsert only for persistent vomiting/ileus. </a:t>
            </a:r>
            <a:r>
              <a:rPr lang="en-US" dirty="0">
                <a:ea typeface="+mn-lt"/>
                <a:cs typeface="+mn-lt"/>
                <a:hlinkClick r:id="rId2"/>
              </a:rPr>
              <a:t>ASCRS</a:t>
            </a:r>
            <a:endParaRPr lang="en-US" dirty="0"/>
          </a:p>
          <a:p>
            <a:endParaRPr lang="en-US" dirty="0"/>
          </a:p>
        </p:txBody>
      </p:sp>
    </p:spTree>
    <p:extLst>
      <p:ext uri="{BB962C8B-B14F-4D97-AF65-F5344CB8AC3E}">
        <p14:creationId xmlns:p14="http://schemas.microsoft.com/office/powerpoint/2010/main" val="10201827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8461D-170A-24DB-E85E-7AB0C232117A}"/>
              </a:ext>
            </a:extLst>
          </p:cNvPr>
          <p:cNvSpPr>
            <a:spLocks noGrp="1"/>
          </p:cNvSpPr>
          <p:nvPr>
            <p:ph type="title"/>
          </p:nvPr>
        </p:nvSpPr>
        <p:spPr>
          <a:xfrm>
            <a:off x="0" y="152400"/>
            <a:ext cx="12192000" cy="548640"/>
          </a:xfrm>
        </p:spPr>
        <p:txBody>
          <a:bodyPr>
            <a:normAutofit fontScale="90000"/>
          </a:bodyPr>
          <a:lstStyle/>
          <a:p>
            <a:pPr algn="r"/>
            <a:r>
              <a:rPr lang="en-GB" dirty="0"/>
              <a:t>…Cont’d</a:t>
            </a:r>
          </a:p>
        </p:txBody>
      </p:sp>
      <p:sp>
        <p:nvSpPr>
          <p:cNvPr id="3" name="Content Placeholder 2">
            <a:extLst>
              <a:ext uri="{FF2B5EF4-FFF2-40B4-BE49-F238E27FC236}">
                <a16:creationId xmlns:a16="http://schemas.microsoft.com/office/drawing/2014/main" id="{1F968DE9-4F53-F094-0799-BF43B11AC78E}"/>
              </a:ext>
            </a:extLst>
          </p:cNvPr>
          <p:cNvSpPr>
            <a:spLocks noGrp="1"/>
          </p:cNvSpPr>
          <p:nvPr>
            <p:ph sz="quarter" idx="1"/>
          </p:nvPr>
        </p:nvSpPr>
        <p:spPr>
          <a:xfrm>
            <a:off x="609599" y="1219200"/>
            <a:ext cx="11410335" cy="5270090"/>
          </a:xfrm>
        </p:spPr>
        <p:txBody>
          <a:bodyPr/>
          <a:lstStyle/>
          <a:p>
            <a:r>
              <a:rPr lang="en-US" dirty="0">
                <a:ea typeface="+mn-lt"/>
                <a:cs typeface="+mn-lt"/>
              </a:rPr>
              <a:t>Hepato-pancreato-biliary ERAS pathways likewise discourage prophylactic NG tubes. </a:t>
            </a:r>
            <a:endParaRPr lang="en-US" dirty="0"/>
          </a:p>
          <a:p>
            <a:pPr marL="0" indent="0">
              <a:buNone/>
            </a:pPr>
            <a:endParaRPr lang="en-US" dirty="0"/>
          </a:p>
          <a:p>
            <a:r>
              <a:rPr lang="en-US" dirty="0">
                <a:ea typeface="+mn-lt"/>
                <a:cs typeface="+mn-lt"/>
              </a:rPr>
              <a:t>If you must keep NG tube (e.g., massive gastric distension)</a:t>
            </a:r>
          </a:p>
          <a:p>
            <a:pPr lvl="1"/>
            <a:r>
              <a:rPr lang="en-US" dirty="0">
                <a:solidFill>
                  <a:schemeClr val="tx1"/>
                </a:solidFill>
                <a:ea typeface="+mn-lt"/>
                <a:cs typeface="+mn-lt"/>
              </a:rPr>
              <a:t>set a </a:t>
            </a:r>
            <a:r>
              <a:rPr lang="en-US" i="1" dirty="0">
                <a:solidFill>
                  <a:schemeClr val="tx1"/>
                </a:solidFill>
                <a:ea typeface="+mn-lt"/>
                <a:cs typeface="+mn-lt"/>
              </a:rPr>
              <a:t>clear </a:t>
            </a:r>
            <a:r>
              <a:rPr lang="en-US" b="1" i="1" dirty="0">
                <a:solidFill>
                  <a:schemeClr val="tx1"/>
                </a:solidFill>
                <a:ea typeface="+mn-lt"/>
                <a:cs typeface="+mn-lt"/>
              </a:rPr>
              <a:t>stop rule</a:t>
            </a:r>
            <a:endParaRPr lang="en-US" b="1" dirty="0">
              <a:solidFill>
                <a:schemeClr val="tx1"/>
              </a:solidFill>
              <a:ea typeface="+mn-lt"/>
              <a:cs typeface="+mn-lt"/>
            </a:endParaRPr>
          </a:p>
          <a:p>
            <a:pPr lvl="1"/>
            <a:r>
              <a:rPr lang="en-US" dirty="0">
                <a:solidFill>
                  <a:schemeClr val="tx1"/>
                </a:solidFill>
                <a:ea typeface="+mn-lt"/>
                <a:cs typeface="+mn-lt"/>
              </a:rPr>
              <a:t>remove when nausea resolves and output &lt;300 mL over 6–8 h</a:t>
            </a:r>
          </a:p>
          <a:p>
            <a:pPr lvl="1"/>
            <a:r>
              <a:rPr lang="en-US" dirty="0">
                <a:solidFill>
                  <a:schemeClr val="tx1"/>
                </a:solidFill>
                <a:ea typeface="+mn-lt"/>
                <a:cs typeface="+mn-lt"/>
              </a:rPr>
              <a:t>then start sips and advance</a:t>
            </a:r>
          </a:p>
          <a:p>
            <a:pPr lvl="1"/>
            <a:endParaRPr lang="en-US" dirty="0"/>
          </a:p>
          <a:p>
            <a:r>
              <a:rPr lang="en-US" dirty="0">
                <a:ea typeface="+mn-lt"/>
                <a:cs typeface="+mn-lt"/>
              </a:rPr>
              <a:t>Document </a:t>
            </a:r>
          </a:p>
          <a:p>
            <a:pPr lvl="1"/>
            <a:r>
              <a:rPr lang="en-US" b="1" i="1" dirty="0">
                <a:solidFill>
                  <a:schemeClr val="tx1"/>
                </a:solidFill>
                <a:ea typeface="+mn-lt"/>
                <a:cs typeface="+mn-lt"/>
              </a:rPr>
              <a:t>why</a:t>
            </a:r>
            <a:r>
              <a:rPr lang="en-US" b="1" dirty="0">
                <a:solidFill>
                  <a:schemeClr val="tx1"/>
                </a:solidFill>
                <a:ea typeface="+mn-lt"/>
                <a:cs typeface="+mn-lt"/>
              </a:rPr>
              <a:t> it’s in </a:t>
            </a:r>
            <a:r>
              <a:rPr lang="en-US" dirty="0">
                <a:solidFill>
                  <a:schemeClr val="tx1"/>
                </a:solidFill>
                <a:ea typeface="+mn-lt"/>
                <a:cs typeface="+mn-lt"/>
              </a:rPr>
              <a:t>and </a:t>
            </a:r>
          </a:p>
          <a:p>
            <a:pPr lvl="1"/>
            <a:r>
              <a:rPr lang="en-US" b="1" i="1" dirty="0">
                <a:solidFill>
                  <a:schemeClr val="tx1"/>
                </a:solidFill>
                <a:ea typeface="+mn-lt"/>
                <a:cs typeface="+mn-lt"/>
              </a:rPr>
              <a:t>Plan for removal</a:t>
            </a:r>
            <a:r>
              <a:rPr lang="en-US" dirty="0">
                <a:solidFill>
                  <a:schemeClr val="tx1"/>
                </a:solidFill>
                <a:ea typeface="+mn-lt"/>
                <a:cs typeface="+mn-lt"/>
              </a:rPr>
              <a:t>—in the order set</a:t>
            </a:r>
            <a:endParaRPr lang="en-US" dirty="0">
              <a:solidFill>
                <a:schemeClr val="tx1"/>
              </a:solidFill>
            </a:endParaRPr>
          </a:p>
          <a:p>
            <a:endParaRPr lang="en-GB" dirty="0"/>
          </a:p>
        </p:txBody>
      </p:sp>
    </p:spTree>
    <p:extLst>
      <p:ext uri="{BB962C8B-B14F-4D97-AF65-F5344CB8AC3E}">
        <p14:creationId xmlns:p14="http://schemas.microsoft.com/office/powerpoint/2010/main" val="2889827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9D32C-0CA1-E34B-0BE4-F4BDBAEF078B}"/>
              </a:ext>
            </a:extLst>
          </p:cNvPr>
          <p:cNvSpPr>
            <a:spLocks noGrp="1"/>
          </p:cNvSpPr>
          <p:nvPr>
            <p:ph type="title"/>
          </p:nvPr>
        </p:nvSpPr>
        <p:spPr>
          <a:xfrm>
            <a:off x="142568" y="152400"/>
            <a:ext cx="12049432" cy="658761"/>
          </a:xfrm>
        </p:spPr>
        <p:txBody>
          <a:bodyPr>
            <a:normAutofit fontScale="90000"/>
          </a:bodyPr>
          <a:lstStyle/>
          <a:p>
            <a:r>
              <a:rPr lang="en-US" dirty="0"/>
              <a:t>Urinary (Foley) catheters</a:t>
            </a:r>
          </a:p>
        </p:txBody>
      </p:sp>
      <p:sp>
        <p:nvSpPr>
          <p:cNvPr id="3" name="Content Placeholder 2">
            <a:extLst>
              <a:ext uri="{FF2B5EF4-FFF2-40B4-BE49-F238E27FC236}">
                <a16:creationId xmlns:a16="http://schemas.microsoft.com/office/drawing/2014/main" id="{A11EFD45-707F-9C02-68FF-7AE769BCA075}"/>
              </a:ext>
            </a:extLst>
          </p:cNvPr>
          <p:cNvSpPr>
            <a:spLocks noGrp="1"/>
          </p:cNvSpPr>
          <p:nvPr>
            <p:ph sz="quarter" idx="1"/>
          </p:nvPr>
        </p:nvSpPr>
        <p:spPr>
          <a:xfrm>
            <a:off x="398206" y="1150374"/>
            <a:ext cx="11651226" cy="5427405"/>
          </a:xfrm>
        </p:spPr>
        <p:txBody>
          <a:bodyPr vert="horz" lIns="91440" tIns="45720" rIns="91440" bIns="45720" rtlCol="0" anchor="t">
            <a:normAutofit lnSpcReduction="10000"/>
          </a:bodyPr>
          <a:lstStyle/>
          <a:p>
            <a:r>
              <a:rPr lang="en-US" sz="3200" b="1" dirty="0">
                <a:ea typeface="+mn-lt"/>
                <a:cs typeface="+mn-lt"/>
              </a:rPr>
              <a:t>Remove early to mobilize and lower UTI risk</a:t>
            </a:r>
            <a:endParaRPr lang="en-US" sz="3200" dirty="0"/>
          </a:p>
          <a:p>
            <a:pPr lvl="1"/>
            <a:r>
              <a:rPr lang="en-US" sz="2800" b="1" dirty="0">
                <a:ea typeface="+mn-lt"/>
                <a:cs typeface="+mn-lt"/>
              </a:rPr>
              <a:t>Colon/rectal resections:</a:t>
            </a:r>
            <a:r>
              <a:rPr lang="en-US" sz="2800" dirty="0">
                <a:ea typeface="+mn-lt"/>
                <a:cs typeface="+mn-lt"/>
              </a:rPr>
              <a:t> </a:t>
            </a:r>
          </a:p>
          <a:p>
            <a:pPr lvl="2"/>
            <a:r>
              <a:rPr lang="en-US" sz="2800" dirty="0">
                <a:ea typeface="+mn-lt"/>
                <a:cs typeface="+mn-lt"/>
              </a:rPr>
              <a:t>typically </a:t>
            </a:r>
            <a:r>
              <a:rPr lang="en-US" sz="2800" b="1" dirty="0">
                <a:ea typeface="+mn-lt"/>
                <a:cs typeface="+mn-lt"/>
              </a:rPr>
              <a:t>remove within 24–48 h</a:t>
            </a:r>
          </a:p>
          <a:p>
            <a:pPr lvl="2"/>
            <a:r>
              <a:rPr lang="en-US" sz="2800" dirty="0">
                <a:ea typeface="+mn-lt"/>
                <a:cs typeface="+mn-lt"/>
              </a:rPr>
              <a:t>sooner (≈24 h) for colon resections</a:t>
            </a:r>
          </a:p>
          <a:p>
            <a:pPr lvl="2"/>
            <a:r>
              <a:rPr lang="en-US" sz="2800" dirty="0">
                <a:ea typeface="+mn-lt"/>
                <a:cs typeface="+mn-lt"/>
              </a:rPr>
              <a:t>pelvic dissection patients may need up to </a:t>
            </a:r>
            <a:r>
              <a:rPr lang="en-US" sz="2800" b="1" dirty="0">
                <a:ea typeface="+mn-lt"/>
                <a:cs typeface="+mn-lt"/>
              </a:rPr>
              <a:t>POD2–3</a:t>
            </a:r>
            <a:r>
              <a:rPr lang="en-US" sz="2800" dirty="0">
                <a:ea typeface="+mn-lt"/>
                <a:cs typeface="+mn-lt"/>
              </a:rPr>
              <a:t> given retention risk</a:t>
            </a:r>
          </a:p>
          <a:p>
            <a:pPr lvl="2"/>
            <a:r>
              <a:rPr lang="en-US" sz="2800" dirty="0">
                <a:ea typeface="+mn-lt"/>
                <a:cs typeface="+mn-lt"/>
              </a:rPr>
              <a:t> avoid “just in case” use of catheters</a:t>
            </a:r>
          </a:p>
          <a:p>
            <a:pPr lvl="1"/>
            <a:endParaRPr lang="en-US" sz="2800" dirty="0"/>
          </a:p>
          <a:p>
            <a:r>
              <a:rPr lang="en-US" sz="3200" b="1" dirty="0">
                <a:ea typeface="+mn-lt"/>
                <a:cs typeface="+mn-lt"/>
              </a:rPr>
              <a:t>Practical cues</a:t>
            </a:r>
            <a:endParaRPr lang="en-US" sz="3200" dirty="0"/>
          </a:p>
          <a:p>
            <a:pPr lvl="1"/>
            <a:r>
              <a:rPr lang="en-US" sz="2800" dirty="0">
                <a:solidFill>
                  <a:schemeClr val="tx1"/>
                </a:solidFill>
                <a:ea typeface="+mn-lt"/>
                <a:cs typeface="+mn-lt"/>
              </a:rPr>
              <a:t>If thoracic epidural is running or patient is high-risk (male pelvic surgery, BPH, large fluids), aim for a </a:t>
            </a:r>
            <a:r>
              <a:rPr lang="en-US" sz="2800" b="1" dirty="0">
                <a:solidFill>
                  <a:schemeClr val="tx1"/>
                </a:solidFill>
                <a:ea typeface="+mn-lt"/>
                <a:cs typeface="+mn-lt"/>
              </a:rPr>
              <a:t>documented postoperative day of removal</a:t>
            </a:r>
            <a:endParaRPr lang="en-US" sz="2800" b="1" dirty="0">
              <a:solidFill>
                <a:schemeClr val="tx1"/>
              </a:solidFill>
            </a:endParaRPr>
          </a:p>
        </p:txBody>
      </p:sp>
    </p:spTree>
    <p:extLst>
      <p:ext uri="{BB962C8B-B14F-4D97-AF65-F5344CB8AC3E}">
        <p14:creationId xmlns:p14="http://schemas.microsoft.com/office/powerpoint/2010/main" val="15170029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9C2EE-BD58-0BC8-8D98-6033A9023968}"/>
              </a:ext>
            </a:extLst>
          </p:cNvPr>
          <p:cNvSpPr>
            <a:spLocks noGrp="1"/>
          </p:cNvSpPr>
          <p:nvPr>
            <p:ph type="title"/>
          </p:nvPr>
        </p:nvSpPr>
        <p:spPr>
          <a:xfrm>
            <a:off x="0" y="152400"/>
            <a:ext cx="12192000" cy="990600"/>
          </a:xfrm>
        </p:spPr>
        <p:txBody>
          <a:bodyPr>
            <a:normAutofit/>
          </a:bodyPr>
          <a:lstStyle/>
          <a:p>
            <a:r>
              <a:rPr lang="en-US" dirty="0"/>
              <a:t>Feeding tubes (</a:t>
            </a:r>
            <a:r>
              <a:rPr lang="en-US" dirty="0" err="1"/>
              <a:t>nasojejunal</a:t>
            </a:r>
            <a:r>
              <a:rPr lang="en-US" dirty="0"/>
              <a:t>/jejunostomy)</a:t>
            </a:r>
            <a:endParaRPr lang="en-GB" dirty="0"/>
          </a:p>
        </p:txBody>
      </p:sp>
      <p:sp>
        <p:nvSpPr>
          <p:cNvPr id="3" name="Content Placeholder 2">
            <a:extLst>
              <a:ext uri="{FF2B5EF4-FFF2-40B4-BE49-F238E27FC236}">
                <a16:creationId xmlns:a16="http://schemas.microsoft.com/office/drawing/2014/main" id="{A7B0A797-F3F1-1486-168F-621D7FA16827}"/>
              </a:ext>
            </a:extLst>
          </p:cNvPr>
          <p:cNvSpPr>
            <a:spLocks noGrp="1"/>
          </p:cNvSpPr>
          <p:nvPr>
            <p:ph sz="quarter" idx="1"/>
          </p:nvPr>
        </p:nvSpPr>
        <p:spPr>
          <a:xfrm>
            <a:off x="609600" y="1219200"/>
            <a:ext cx="11582400" cy="4937760"/>
          </a:xfrm>
        </p:spPr>
        <p:txBody>
          <a:bodyPr/>
          <a:lstStyle/>
          <a:p>
            <a:r>
              <a:rPr lang="en-US" dirty="0"/>
              <a:t> </a:t>
            </a:r>
            <a:r>
              <a:rPr lang="en-US" b="1" dirty="0">
                <a:ea typeface="+mn-lt"/>
                <a:cs typeface="+mn-lt"/>
              </a:rPr>
              <a:t>ERAS :</a:t>
            </a:r>
            <a:r>
              <a:rPr lang="en-US" dirty="0">
                <a:ea typeface="+mn-lt"/>
                <a:cs typeface="+mn-lt"/>
              </a:rPr>
              <a:t> </a:t>
            </a:r>
            <a:r>
              <a:rPr lang="en-US" i="1" dirty="0">
                <a:ea typeface="+mn-lt"/>
                <a:cs typeface="+mn-lt"/>
              </a:rPr>
              <a:t>Prefer early oral feeding; avoid prophylactic feeding tubes</a:t>
            </a:r>
          </a:p>
          <a:p>
            <a:pPr marL="0" indent="0">
              <a:buNone/>
            </a:pPr>
            <a:endParaRPr lang="en-US" dirty="0"/>
          </a:p>
          <a:p>
            <a:r>
              <a:rPr lang="en-US" dirty="0">
                <a:ea typeface="+mn-lt"/>
                <a:cs typeface="+mn-lt"/>
              </a:rPr>
              <a:t>After colorectal surgery</a:t>
            </a:r>
          </a:p>
          <a:p>
            <a:pPr lvl="1"/>
            <a:r>
              <a:rPr lang="en-US" dirty="0">
                <a:solidFill>
                  <a:schemeClr val="tx1"/>
                </a:solidFill>
                <a:ea typeface="+mn-lt"/>
                <a:cs typeface="+mn-lt"/>
              </a:rPr>
              <a:t> start </a:t>
            </a:r>
            <a:r>
              <a:rPr lang="en-US" b="1" dirty="0">
                <a:solidFill>
                  <a:schemeClr val="tx1"/>
                </a:solidFill>
                <a:ea typeface="+mn-lt"/>
                <a:cs typeface="+mn-lt"/>
              </a:rPr>
              <a:t>regular diet within 24 h</a:t>
            </a:r>
            <a:r>
              <a:rPr lang="en-US" dirty="0">
                <a:solidFill>
                  <a:schemeClr val="tx1"/>
                </a:solidFill>
                <a:ea typeface="+mn-lt"/>
                <a:cs typeface="+mn-lt"/>
              </a:rPr>
              <a:t>; routine feeding tubes aren’t needed</a:t>
            </a:r>
          </a:p>
          <a:p>
            <a:endParaRPr lang="en-US" dirty="0"/>
          </a:p>
          <a:p>
            <a:r>
              <a:rPr lang="en-US" dirty="0">
                <a:ea typeface="+mn-lt"/>
                <a:cs typeface="+mn-lt"/>
              </a:rPr>
              <a:t>Consider NJ/J-tube </a:t>
            </a:r>
            <a:r>
              <a:rPr lang="en-US" b="1" dirty="0">
                <a:ea typeface="+mn-lt"/>
                <a:cs typeface="+mn-lt"/>
              </a:rPr>
              <a:t>selectively</a:t>
            </a:r>
            <a:r>
              <a:rPr lang="en-US" dirty="0">
                <a:ea typeface="+mn-lt"/>
                <a:cs typeface="+mn-lt"/>
              </a:rPr>
              <a:t> </a:t>
            </a:r>
          </a:p>
          <a:p>
            <a:pPr lvl="1"/>
            <a:r>
              <a:rPr lang="en-US" dirty="0">
                <a:solidFill>
                  <a:schemeClr val="tx1"/>
                </a:solidFill>
                <a:ea typeface="+mn-lt"/>
                <a:cs typeface="+mn-lt"/>
              </a:rPr>
              <a:t>e.g., malnutrition, anticipated delayed gastric emptying, total gastrectomy/esophagectomy programs, rather than by default</a:t>
            </a:r>
          </a:p>
          <a:p>
            <a:pPr lvl="1"/>
            <a:endParaRPr lang="en-US" dirty="0">
              <a:solidFill>
                <a:schemeClr val="tx1"/>
              </a:solidFill>
              <a:ea typeface="+mn-lt"/>
              <a:cs typeface="+mn-lt"/>
            </a:endParaRPr>
          </a:p>
          <a:p>
            <a:pPr lvl="1"/>
            <a:r>
              <a:rPr lang="en-US" dirty="0">
                <a:solidFill>
                  <a:schemeClr val="tx1"/>
                </a:solidFill>
                <a:ea typeface="+mn-lt"/>
                <a:cs typeface="+mn-lt"/>
              </a:rPr>
              <a:t>(Practice varies by upper-GI program; still, </a:t>
            </a:r>
            <a:r>
              <a:rPr lang="en-US" b="1" dirty="0">
                <a:solidFill>
                  <a:schemeClr val="tx1"/>
                </a:solidFill>
                <a:ea typeface="+mn-lt"/>
                <a:cs typeface="+mn-lt"/>
              </a:rPr>
              <a:t>ERAS emphasizes oral first</a:t>
            </a:r>
            <a:r>
              <a:rPr lang="en-US" dirty="0">
                <a:solidFill>
                  <a:schemeClr val="tx1"/>
                </a:solidFill>
                <a:ea typeface="+mn-lt"/>
                <a:cs typeface="+mn-lt"/>
              </a:rPr>
              <a:t>)</a:t>
            </a:r>
            <a:endParaRPr lang="en-GB" dirty="0">
              <a:solidFill>
                <a:schemeClr val="tx1"/>
              </a:solidFill>
            </a:endParaRPr>
          </a:p>
        </p:txBody>
      </p:sp>
    </p:spTree>
    <p:extLst>
      <p:ext uri="{BB962C8B-B14F-4D97-AF65-F5344CB8AC3E}">
        <p14:creationId xmlns:p14="http://schemas.microsoft.com/office/powerpoint/2010/main" val="42655023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A1DD3-558F-12AA-8033-A951A2350BA9}"/>
              </a:ext>
            </a:extLst>
          </p:cNvPr>
          <p:cNvSpPr>
            <a:spLocks noGrp="1"/>
          </p:cNvSpPr>
          <p:nvPr>
            <p:ph type="title"/>
          </p:nvPr>
        </p:nvSpPr>
        <p:spPr>
          <a:xfrm>
            <a:off x="147484" y="152400"/>
            <a:ext cx="12044516" cy="820994"/>
          </a:xfrm>
        </p:spPr>
        <p:txBody>
          <a:bodyPr/>
          <a:lstStyle/>
          <a:p>
            <a:r>
              <a:rPr lang="en-GB" dirty="0"/>
              <a:t>Summary</a:t>
            </a:r>
          </a:p>
        </p:txBody>
      </p:sp>
      <p:sp>
        <p:nvSpPr>
          <p:cNvPr id="3" name="Content Placeholder 2">
            <a:extLst>
              <a:ext uri="{FF2B5EF4-FFF2-40B4-BE49-F238E27FC236}">
                <a16:creationId xmlns:a16="http://schemas.microsoft.com/office/drawing/2014/main" id="{D36411BA-78C5-EDD2-18B0-D17EF8B2517C}"/>
              </a:ext>
            </a:extLst>
          </p:cNvPr>
          <p:cNvSpPr>
            <a:spLocks noGrp="1"/>
          </p:cNvSpPr>
          <p:nvPr>
            <p:ph sz="quarter" idx="1"/>
          </p:nvPr>
        </p:nvSpPr>
        <p:spPr>
          <a:xfrm>
            <a:off x="609600" y="1219199"/>
            <a:ext cx="10972800" cy="5137355"/>
          </a:xfrm>
        </p:spPr>
        <p:txBody>
          <a:bodyPr>
            <a:normAutofit lnSpcReduction="10000"/>
          </a:bodyPr>
          <a:lstStyle/>
          <a:p>
            <a:r>
              <a:rPr lang="en-GB" sz="2800" dirty="0"/>
              <a:t>Minimize the use of drains and tubes </a:t>
            </a:r>
          </a:p>
          <a:p>
            <a:endParaRPr lang="en-GB" sz="2800" dirty="0"/>
          </a:p>
          <a:p>
            <a:r>
              <a:rPr lang="en-GB" sz="2800" dirty="0"/>
              <a:t>Avoid routine use </a:t>
            </a:r>
          </a:p>
          <a:p>
            <a:endParaRPr lang="en-GB" sz="2800" dirty="0"/>
          </a:p>
          <a:p>
            <a:r>
              <a:rPr lang="en-GB" sz="2800" dirty="0"/>
              <a:t>Plan early removal </a:t>
            </a:r>
          </a:p>
          <a:p>
            <a:endParaRPr lang="en-GB" sz="2800" dirty="0"/>
          </a:p>
          <a:p>
            <a:r>
              <a:rPr lang="en-GB" sz="2800" dirty="0"/>
              <a:t>Specific guidelines vary by surgical procedure and patient specific factors </a:t>
            </a:r>
          </a:p>
          <a:p>
            <a:endParaRPr lang="en-GB" sz="2800" dirty="0"/>
          </a:p>
          <a:p>
            <a:r>
              <a:rPr lang="en-GB" sz="2800" dirty="0"/>
              <a:t>Make sure drains are NOT source of pain, infection or immobilization</a:t>
            </a:r>
          </a:p>
        </p:txBody>
      </p:sp>
    </p:spTree>
    <p:extLst>
      <p:ext uri="{BB962C8B-B14F-4D97-AF65-F5344CB8AC3E}">
        <p14:creationId xmlns:p14="http://schemas.microsoft.com/office/powerpoint/2010/main" val="19016062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F58EE-F134-CBB3-1A9F-15C11443642E}"/>
              </a:ext>
            </a:extLst>
          </p:cNvPr>
          <p:cNvSpPr>
            <a:spLocks noGrp="1"/>
          </p:cNvSpPr>
          <p:nvPr>
            <p:ph type="title"/>
          </p:nvPr>
        </p:nvSpPr>
        <p:spPr/>
        <p:txBody>
          <a:bodyPr/>
          <a:lstStyle/>
          <a:p>
            <a:endParaRPr lang="en-GB"/>
          </a:p>
        </p:txBody>
      </p:sp>
      <p:pic>
        <p:nvPicPr>
          <p:cNvPr id="4" name="Content Placeholder 4">
            <a:extLst>
              <a:ext uri="{FF2B5EF4-FFF2-40B4-BE49-F238E27FC236}">
                <a16:creationId xmlns:a16="http://schemas.microsoft.com/office/drawing/2014/main" id="{0E55E0AD-78B2-50A7-5166-C8542F55E8F2}"/>
              </a:ext>
            </a:extLst>
          </p:cNvPr>
          <p:cNvPicPr>
            <a:picLocks noGrp="1" noChangeAspect="1"/>
          </p:cNvPicPr>
          <p:nvPr>
            <p:ph sz="quarter"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 y="0"/>
            <a:ext cx="12191999" cy="7219336"/>
          </a:xfrm>
        </p:spPr>
      </p:pic>
    </p:spTree>
    <p:extLst>
      <p:ext uri="{BB962C8B-B14F-4D97-AF65-F5344CB8AC3E}">
        <p14:creationId xmlns:p14="http://schemas.microsoft.com/office/powerpoint/2010/main" val="33614720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FA8EF-9026-E27C-CE93-809D465759D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FF045DD-856F-7CE3-855B-BF1B4B7D9A7F}"/>
              </a:ext>
            </a:extLst>
          </p:cNvPr>
          <p:cNvSpPr>
            <a:spLocks noGrp="1"/>
          </p:cNvSpPr>
          <p:nvPr>
            <p:ph sz="quarter" idx="1"/>
          </p:nvPr>
        </p:nvSpPr>
        <p:spPr/>
        <p:txBody>
          <a:bodyPr vert="horz" lIns="91440" tIns="45720" rIns="91440" bIns="45720" rtlCol="0" anchor="t">
            <a:normAutofit/>
          </a:bodyPr>
          <a:lstStyle/>
          <a:p>
            <a:r>
              <a:rPr lang="en-US" sz="1800" b="1" dirty="0"/>
              <a:t>Prophylactic Intra-abdominal Drains in Major Elective Surgeries: A Comprehensive Review</a:t>
            </a:r>
            <a:endParaRPr lang="en-US" dirty="0"/>
          </a:p>
          <a:p>
            <a:r>
              <a:rPr lang="en-US" sz="1200" u="sng" dirty="0">
                <a:solidFill>
                  <a:srgbClr val="005EA2"/>
                </a:solidFill>
                <a:ea typeface="+mn-lt"/>
                <a:cs typeface="+mn-lt"/>
                <a:hlinkClick r:id="rId2"/>
              </a:rPr>
              <a:t>Sai Goutham </a:t>
            </a:r>
            <a:r>
              <a:rPr lang="en-US" sz="1200" u="sng" dirty="0" err="1">
                <a:solidFill>
                  <a:srgbClr val="005EA2"/>
                </a:solidFill>
                <a:ea typeface="+mn-lt"/>
                <a:cs typeface="+mn-lt"/>
                <a:hlinkClick r:id="rId2"/>
              </a:rPr>
              <a:t>Rekavari</a:t>
            </a:r>
            <a:r>
              <a:rPr lang="en-US" sz="1200" dirty="0">
                <a:solidFill>
                  <a:srgbClr val="1B1B1B"/>
                </a:solidFill>
                <a:ea typeface="+mn-lt"/>
                <a:cs typeface="+mn-lt"/>
              </a:rPr>
              <a:t> </a:t>
            </a:r>
            <a:r>
              <a:rPr lang="en-US" sz="1200" baseline="30000" dirty="0">
                <a:solidFill>
                  <a:srgbClr val="1B1B1B"/>
                </a:solidFill>
                <a:ea typeface="+mn-lt"/>
                <a:cs typeface="+mn-lt"/>
              </a:rPr>
              <a:t>1,✉</a:t>
            </a:r>
            <a:r>
              <a:rPr lang="en-US" sz="1200" dirty="0">
                <a:solidFill>
                  <a:srgbClr val="1B1B1B"/>
                </a:solidFill>
                <a:ea typeface="+mn-lt"/>
                <a:cs typeface="+mn-lt"/>
              </a:rPr>
              <a:t>, </a:t>
            </a:r>
            <a:r>
              <a:rPr lang="en-US" sz="1200" u="sng" dirty="0" err="1">
                <a:solidFill>
                  <a:srgbClr val="005EA2"/>
                </a:solidFill>
                <a:ea typeface="+mn-lt"/>
                <a:cs typeface="+mn-lt"/>
                <a:hlinkClick r:id="rId3"/>
              </a:rPr>
              <a:t>Chanrashekhar</a:t>
            </a:r>
            <a:r>
              <a:rPr lang="en-US" sz="1200" u="sng" dirty="0">
                <a:solidFill>
                  <a:srgbClr val="005EA2"/>
                </a:solidFill>
                <a:ea typeface="+mn-lt"/>
                <a:cs typeface="+mn-lt"/>
                <a:hlinkClick r:id="rId3"/>
              </a:rPr>
              <a:t> </a:t>
            </a:r>
            <a:r>
              <a:rPr lang="en-US" sz="1200" u="sng" dirty="0" err="1">
                <a:solidFill>
                  <a:srgbClr val="005EA2"/>
                </a:solidFill>
                <a:ea typeface="+mn-lt"/>
                <a:cs typeface="+mn-lt"/>
                <a:hlinkClick r:id="rId3"/>
              </a:rPr>
              <a:t>Mahakalkar</a:t>
            </a:r>
            <a:r>
              <a:rPr lang="en-US" sz="1200" dirty="0">
                <a:solidFill>
                  <a:srgbClr val="1B1B1B"/>
                </a:solidFill>
                <a:ea typeface="+mn-lt"/>
                <a:cs typeface="+mn-lt"/>
              </a:rPr>
              <a:t> </a:t>
            </a:r>
            <a:r>
              <a:rPr lang="en-US" sz="1200" baseline="30000" dirty="0">
                <a:solidFill>
                  <a:srgbClr val="1B1B1B"/>
                </a:solidFill>
                <a:ea typeface="+mn-lt"/>
                <a:cs typeface="+mn-lt"/>
              </a:rPr>
              <a:t>1</a:t>
            </a:r>
            <a:endParaRPr lang="en-US" dirty="0"/>
          </a:p>
          <a:p>
            <a:r>
              <a:rPr lang="en-US" sz="1200" dirty="0">
                <a:solidFill>
                  <a:srgbClr val="1B1B1B"/>
                </a:solidFill>
                <a:ea typeface="+mn-lt"/>
                <a:cs typeface="+mn-lt"/>
              </a:rPr>
              <a:t>Editors: Alexander </a:t>
            </a:r>
            <a:r>
              <a:rPr lang="en-US" sz="1200" dirty="0" err="1">
                <a:solidFill>
                  <a:srgbClr val="1B1B1B"/>
                </a:solidFill>
                <a:ea typeface="+mn-lt"/>
                <a:cs typeface="+mn-lt"/>
              </a:rPr>
              <a:t>Muacevic</a:t>
            </a:r>
            <a:r>
              <a:rPr lang="en-US" sz="1200" dirty="0">
                <a:solidFill>
                  <a:srgbClr val="1B1B1B"/>
                </a:solidFill>
                <a:ea typeface="+mn-lt"/>
                <a:cs typeface="+mn-lt"/>
              </a:rPr>
              <a:t>, John R Adler</a:t>
            </a:r>
            <a:endParaRPr lang="en-US" dirty="0"/>
          </a:p>
          <a:p>
            <a:r>
              <a:rPr lang="en-US" sz="1200" dirty="0">
                <a:solidFill>
                  <a:srgbClr val="005EA2"/>
                </a:solidFill>
                <a:ea typeface="+mn-lt"/>
                <a:cs typeface="+mn-lt"/>
              </a:rPr>
              <a:t>Author information</a:t>
            </a:r>
            <a:endParaRPr lang="en-US" dirty="0"/>
          </a:p>
          <a:p>
            <a:r>
              <a:rPr lang="en-US" sz="1200" dirty="0">
                <a:solidFill>
                  <a:srgbClr val="005EA2"/>
                </a:solidFill>
                <a:ea typeface="+mn-lt"/>
                <a:cs typeface="+mn-lt"/>
              </a:rPr>
              <a:t>Article notes</a:t>
            </a:r>
            <a:endParaRPr lang="en-US" dirty="0"/>
          </a:p>
          <a:p>
            <a:r>
              <a:rPr lang="en-US" sz="1200" dirty="0">
                <a:solidFill>
                  <a:srgbClr val="005EA2"/>
                </a:solidFill>
                <a:ea typeface="+mn-lt"/>
                <a:cs typeface="+mn-lt"/>
              </a:rPr>
              <a:t>Copyright and License information</a:t>
            </a:r>
            <a:endParaRPr lang="en-US" dirty="0"/>
          </a:p>
          <a:p>
            <a:r>
              <a:rPr lang="en-US" sz="1200" dirty="0">
                <a:solidFill>
                  <a:srgbClr val="1B1B1B"/>
                </a:solidFill>
                <a:ea typeface="+mn-lt"/>
                <a:cs typeface="+mn-lt"/>
              </a:rPr>
              <a:t>PMCID: PMC10933947  PMID: </a:t>
            </a:r>
            <a:r>
              <a:rPr lang="en-US" sz="1200" u="sng" dirty="0">
                <a:solidFill>
                  <a:srgbClr val="005EA2"/>
                </a:solidFill>
                <a:ea typeface="+mn-lt"/>
                <a:cs typeface="+mn-lt"/>
                <a:hlinkClick r:id="rId4"/>
              </a:rPr>
              <a:t>38481916</a:t>
            </a:r>
            <a:endParaRPr lang="en-US" dirty="0"/>
          </a:p>
          <a:p>
            <a:endParaRPr lang="en-US" dirty="0"/>
          </a:p>
        </p:txBody>
      </p:sp>
    </p:spTree>
    <p:extLst>
      <p:ext uri="{BB962C8B-B14F-4D97-AF65-F5344CB8AC3E}">
        <p14:creationId xmlns:p14="http://schemas.microsoft.com/office/powerpoint/2010/main" val="32966845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84E78-36F5-CECB-B09A-9ED74E2807A5}"/>
              </a:ext>
            </a:extLst>
          </p:cNvPr>
          <p:cNvSpPr>
            <a:spLocks noGrp="1"/>
          </p:cNvSpPr>
          <p:nvPr>
            <p:ph type="title"/>
          </p:nvPr>
        </p:nvSpPr>
        <p:spPr/>
        <p:txBody>
          <a:bodyPr/>
          <a:lstStyle/>
          <a:p>
            <a:endParaRPr lang="en-GB"/>
          </a:p>
        </p:txBody>
      </p:sp>
      <p:pic>
        <p:nvPicPr>
          <p:cNvPr id="5" name="Content Placeholder 4">
            <a:extLst>
              <a:ext uri="{FF2B5EF4-FFF2-40B4-BE49-F238E27FC236}">
                <a16:creationId xmlns:a16="http://schemas.microsoft.com/office/drawing/2014/main" id="{C9C60DA8-E0FC-DA59-8120-AD47AA61FF6B}"/>
              </a:ext>
            </a:extLst>
          </p:cNvPr>
          <p:cNvPicPr>
            <a:picLocks noGrp="1" noChangeAspect="1"/>
          </p:cNvPicPr>
          <p:nvPr>
            <p:ph sz="quarter" idx="1"/>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365663" y="1220960"/>
            <a:ext cx="7460673" cy="4933604"/>
          </a:xfrm>
        </p:spPr>
      </p:pic>
      <p:sp>
        <p:nvSpPr>
          <p:cNvPr id="6" name="TextBox 5">
            <a:extLst>
              <a:ext uri="{FF2B5EF4-FFF2-40B4-BE49-F238E27FC236}">
                <a16:creationId xmlns:a16="http://schemas.microsoft.com/office/drawing/2014/main" id="{450003C9-FCEF-837F-7CFA-42A081699694}"/>
              </a:ext>
            </a:extLst>
          </p:cNvPr>
          <p:cNvSpPr txBox="1"/>
          <p:nvPr/>
        </p:nvSpPr>
        <p:spPr>
          <a:xfrm>
            <a:off x="2811166" y="6176963"/>
            <a:ext cx="6569667" cy="230832"/>
          </a:xfrm>
          <a:prstGeom prst="rect">
            <a:avLst/>
          </a:prstGeom>
          <a:noFill/>
        </p:spPr>
        <p:txBody>
          <a:bodyPr wrap="square" rtlCol="0">
            <a:spAutoFit/>
          </a:bodyPr>
          <a:lstStyle/>
          <a:p>
            <a:r>
              <a:rPr lang="en-GB" sz="900">
                <a:hlinkClick r:id="rId3" tooltip="https://pressbooks.bccampus.ca/clinicalproceduresforsaferpatientcaretrubscn/chapter/4-9-drain-management-and-removal/"/>
              </a:rPr>
              <a:t>This Photo</a:t>
            </a:r>
            <a:r>
              <a:rPr lang="en-GB" sz="900"/>
              <a:t> by Unknown Author is licensed under </a:t>
            </a:r>
            <a:r>
              <a:rPr lang="en-GB" sz="900">
                <a:hlinkClick r:id="rId4" tooltip="https://creativecommons.org/licenses/by/3.0/"/>
              </a:rPr>
              <a:t>CC BY</a:t>
            </a:r>
            <a:endParaRPr lang="en-GB" sz="900"/>
          </a:p>
        </p:txBody>
      </p:sp>
    </p:spTree>
    <p:extLst>
      <p:ext uri="{BB962C8B-B14F-4D97-AF65-F5344CB8AC3E}">
        <p14:creationId xmlns:p14="http://schemas.microsoft.com/office/powerpoint/2010/main" val="23907634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93A0C-BD96-BDF7-A2D5-F1564E173EDD}"/>
              </a:ext>
            </a:extLst>
          </p:cNvPr>
          <p:cNvSpPr>
            <a:spLocks noGrp="1"/>
          </p:cNvSpPr>
          <p:nvPr>
            <p:ph type="title"/>
          </p:nvPr>
        </p:nvSpPr>
        <p:spPr/>
        <p:txBody>
          <a:bodyPr/>
          <a:lstStyle/>
          <a:p>
            <a:endParaRPr lang="en-GB"/>
          </a:p>
        </p:txBody>
      </p:sp>
      <p:sp>
        <p:nvSpPr>
          <p:cNvPr id="11" name="Content Placeholder 10">
            <a:extLst>
              <a:ext uri="{FF2B5EF4-FFF2-40B4-BE49-F238E27FC236}">
                <a16:creationId xmlns:a16="http://schemas.microsoft.com/office/drawing/2014/main" id="{D180DB57-D1BB-6029-759D-8E867D3D7A98}"/>
              </a:ext>
            </a:extLst>
          </p:cNvPr>
          <p:cNvSpPr>
            <a:spLocks noGrp="1"/>
          </p:cNvSpPr>
          <p:nvPr>
            <p:ph sz="quarter" idx="1"/>
          </p:nvPr>
        </p:nvSpPr>
        <p:spPr/>
        <p:txBody>
          <a:bodyPr/>
          <a:lstStyle/>
          <a:p>
            <a:endParaRPr lang="en-GB"/>
          </a:p>
        </p:txBody>
      </p:sp>
    </p:spTree>
    <p:extLst>
      <p:ext uri="{BB962C8B-B14F-4D97-AF65-F5344CB8AC3E}">
        <p14:creationId xmlns:p14="http://schemas.microsoft.com/office/powerpoint/2010/main" val="27634028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5A384-5AAC-3327-20A5-12853EC91AA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9E64658-E6AF-A014-0A63-87C76B5E8A77}"/>
              </a:ext>
            </a:extLst>
          </p:cNvPr>
          <p:cNvSpPr>
            <a:spLocks noGrp="1"/>
          </p:cNvSpPr>
          <p:nvPr>
            <p:ph sz="quarter" idx="1"/>
          </p:nvPr>
        </p:nvSpPr>
        <p:spPr/>
        <p:txBody>
          <a:bodyPr vert="horz" lIns="91440" tIns="45720" rIns="91440" bIns="45720" rtlCol="0" anchor="t">
            <a:normAutofit/>
          </a:bodyPr>
          <a:lstStyle/>
          <a:p>
            <a:r>
              <a:rPr lang="en-US" b="1">
                <a:solidFill>
                  <a:srgbClr val="222222"/>
                </a:solidFill>
              </a:rPr>
              <a:t>Delayed ambulation in adult patients after major abdominal surgery in Northwest Ethiopia: a multicenter prospective follow up study</a:t>
            </a:r>
            <a:endParaRPr lang="en-US"/>
          </a:p>
          <a:p>
            <a:r>
              <a:rPr lang="en-US" u="sng">
                <a:solidFill>
                  <a:srgbClr val="006699"/>
                </a:solidFill>
                <a:ea typeface="+mn-lt"/>
                <a:cs typeface="+mn-lt"/>
                <a:hlinkClick r:id="rId2"/>
              </a:rPr>
              <a:t>Simachew Amogne Debas</a:t>
            </a:r>
            <a:r>
              <a:rPr lang="en-US">
                <a:solidFill>
                  <a:srgbClr val="222222"/>
                </a:solidFill>
                <a:ea typeface="+mn-lt"/>
                <a:cs typeface="+mn-lt"/>
              </a:rPr>
              <a:t>, </a:t>
            </a:r>
            <a:endParaRPr lang="en-US"/>
          </a:p>
          <a:p>
            <a:r>
              <a:rPr lang="en-US" u="sng">
                <a:solidFill>
                  <a:srgbClr val="006699"/>
                </a:solidFill>
                <a:ea typeface="+mn-lt"/>
                <a:cs typeface="+mn-lt"/>
                <a:hlinkClick r:id="rId3"/>
              </a:rPr>
              <a:t>Wubie Birlie Chekol</a:t>
            </a:r>
            <a:r>
              <a:rPr lang="en-US">
                <a:solidFill>
                  <a:srgbClr val="222222"/>
                </a:solidFill>
                <a:ea typeface="+mn-lt"/>
                <a:cs typeface="+mn-lt"/>
              </a:rPr>
              <a:t>, </a:t>
            </a:r>
            <a:endParaRPr lang="en-US"/>
          </a:p>
          <a:p>
            <a:r>
              <a:rPr lang="en-US" u="sng">
                <a:solidFill>
                  <a:srgbClr val="006699"/>
                </a:solidFill>
                <a:ea typeface="+mn-lt"/>
                <a:cs typeface="+mn-lt"/>
                <a:hlinkClick r:id="rId4"/>
              </a:rPr>
              <a:t>Mulualem Endeshaw Zeleke</a:t>
            </a:r>
            <a:r>
              <a:rPr lang="en-US">
                <a:solidFill>
                  <a:srgbClr val="222222"/>
                </a:solidFill>
                <a:ea typeface="+mn-lt"/>
                <a:cs typeface="+mn-lt"/>
              </a:rPr>
              <a:t> &amp; </a:t>
            </a:r>
            <a:endParaRPr lang="en-US"/>
          </a:p>
          <a:p>
            <a:r>
              <a:rPr lang="en-US" u="sng">
                <a:solidFill>
                  <a:srgbClr val="006699"/>
                </a:solidFill>
                <a:ea typeface="+mn-lt"/>
                <a:cs typeface="+mn-lt"/>
                <a:hlinkClick r:id="rId5"/>
              </a:rPr>
              <a:t>Abraham Tarekegn Mersha</a:t>
            </a:r>
            <a:r>
              <a:rPr lang="en-US">
                <a:solidFill>
                  <a:srgbClr val="222222"/>
                </a:solidFill>
                <a:ea typeface="+mn-lt"/>
                <a:cs typeface="+mn-lt"/>
              </a:rPr>
              <a:t> </a:t>
            </a:r>
            <a:endParaRPr lang="en-US"/>
          </a:p>
          <a:p>
            <a:r>
              <a:rPr lang="en-US" i="1" u="sng">
                <a:solidFill>
                  <a:srgbClr val="006699"/>
                </a:solidFill>
                <a:ea typeface="+mn-lt"/>
                <a:cs typeface="+mn-lt"/>
                <a:hlinkClick r:id="rId6"/>
              </a:rPr>
              <a:t>Scientific Reports</a:t>
            </a:r>
            <a:r>
              <a:rPr lang="en-US">
                <a:solidFill>
                  <a:srgbClr val="222222"/>
                </a:solidFill>
                <a:ea typeface="+mn-lt"/>
                <a:cs typeface="+mn-lt"/>
              </a:rPr>
              <a:t> </a:t>
            </a:r>
            <a:r>
              <a:rPr lang="en-US" b="1">
                <a:solidFill>
                  <a:srgbClr val="222222"/>
                </a:solidFill>
                <a:ea typeface="+mn-lt"/>
                <a:cs typeface="+mn-lt"/>
              </a:rPr>
              <a:t>volume 15</a:t>
            </a:r>
            <a:r>
              <a:rPr lang="en-US">
                <a:solidFill>
                  <a:srgbClr val="222222"/>
                </a:solidFill>
                <a:ea typeface="+mn-lt"/>
                <a:cs typeface="+mn-lt"/>
              </a:rPr>
              <a:t>, Article number: 13382 (2025) </a:t>
            </a:r>
            <a:r>
              <a:rPr lang="en-US" u="sng">
                <a:solidFill>
                  <a:srgbClr val="006699"/>
                </a:solidFill>
                <a:ea typeface="+mn-lt"/>
                <a:cs typeface="+mn-lt"/>
                <a:hlinkClick r:id="rId7"/>
              </a:rPr>
              <a:t>Cite this article</a:t>
            </a:r>
            <a:endParaRPr lang="en-US"/>
          </a:p>
          <a:p>
            <a:r>
              <a:rPr lang="en-US" sz="1400" b="1">
                <a:solidFill>
                  <a:srgbClr val="222222"/>
                </a:solidFill>
                <a:ea typeface="+mn-lt"/>
                <a:cs typeface="+mn-lt"/>
              </a:rPr>
              <a:t>1722 </a:t>
            </a:r>
            <a:r>
              <a:rPr lang="en-US" sz="1400">
                <a:solidFill>
                  <a:srgbClr val="626262"/>
                </a:solidFill>
                <a:ea typeface="+mn-lt"/>
                <a:cs typeface="+mn-lt"/>
              </a:rPr>
              <a:t>Accesses</a:t>
            </a:r>
            <a:endParaRPr lang="en-US"/>
          </a:p>
          <a:p>
            <a:r>
              <a:rPr lang="en-US" sz="1400" u="sng">
                <a:solidFill>
                  <a:srgbClr val="006699"/>
                </a:solidFill>
                <a:ea typeface="+mn-lt"/>
                <a:cs typeface="+mn-lt"/>
                <a:hlinkClick r:id="rId8"/>
              </a:rPr>
              <a:t>Metrics</a:t>
            </a:r>
            <a:endParaRPr lang="en-US"/>
          </a:p>
          <a:p>
            <a:endParaRPr lang="en-US"/>
          </a:p>
        </p:txBody>
      </p:sp>
    </p:spTree>
    <p:extLst>
      <p:ext uri="{BB962C8B-B14F-4D97-AF65-F5344CB8AC3E}">
        <p14:creationId xmlns:p14="http://schemas.microsoft.com/office/powerpoint/2010/main" val="2273135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C440E-DC5E-C249-AA21-345462451AD2}"/>
              </a:ext>
            </a:extLst>
          </p:cNvPr>
          <p:cNvSpPr>
            <a:spLocks noGrp="1"/>
          </p:cNvSpPr>
          <p:nvPr>
            <p:ph type="title"/>
          </p:nvPr>
        </p:nvSpPr>
        <p:spPr>
          <a:xfrm>
            <a:off x="838200" y="365125"/>
            <a:ext cx="10515600" cy="2748921"/>
          </a:xfrm>
        </p:spPr>
        <p:txBody>
          <a:bodyPr vert="horz" lIns="91440" tIns="45720" rIns="91440" bIns="45720" rtlCol="0" anchor="ctr">
            <a:noAutofit/>
          </a:bodyPr>
          <a:lstStyle/>
          <a:p>
            <a:r>
              <a:rPr lang="en-US" sz="1000" b="1">
                <a:solidFill>
                  <a:srgbClr val="222222"/>
                </a:solidFill>
              </a:rPr>
              <a:t>Systematic review and meta-analysis of the efficacy of prophylactic abdominal drainage in major liver resections</a:t>
            </a:r>
            <a:endParaRPr lang="en-US" sz="1000"/>
          </a:p>
          <a:p>
            <a:r>
              <a:rPr lang="en-US" sz="1000" u="sng">
                <a:solidFill>
                  <a:srgbClr val="006699"/>
                </a:solidFill>
                <a:ea typeface="+mj-lt"/>
                <a:cs typeface="+mj-lt"/>
                <a:hlinkClick r:id="rId2"/>
              </a:rPr>
              <a:t>Sepehr Abbasi Dezfouli</a:t>
            </a:r>
            <a:r>
              <a:rPr lang="en-US" sz="1000">
                <a:solidFill>
                  <a:srgbClr val="222222"/>
                </a:solidFill>
                <a:ea typeface="+mj-lt"/>
                <a:cs typeface="+mj-lt"/>
              </a:rPr>
              <a:t>, </a:t>
            </a:r>
            <a:endParaRPr lang="en-US" sz="1000"/>
          </a:p>
          <a:p>
            <a:r>
              <a:rPr lang="en-US" sz="1000" u="sng">
                <a:solidFill>
                  <a:srgbClr val="006699"/>
                </a:solidFill>
                <a:ea typeface="+mj-lt"/>
                <a:cs typeface="+mj-lt"/>
                <a:hlinkClick r:id="rId3"/>
              </a:rPr>
              <a:t>Umut Kaan Ünal</a:t>
            </a:r>
            <a:r>
              <a:rPr lang="en-US" sz="1000">
                <a:solidFill>
                  <a:srgbClr val="222222"/>
                </a:solidFill>
                <a:ea typeface="+mj-lt"/>
                <a:cs typeface="+mj-lt"/>
              </a:rPr>
              <a:t>, </a:t>
            </a:r>
            <a:endParaRPr lang="en-US" sz="1000"/>
          </a:p>
          <a:p>
            <a:r>
              <a:rPr lang="en-US" sz="1000" u="sng">
                <a:solidFill>
                  <a:srgbClr val="006699"/>
                </a:solidFill>
                <a:ea typeface="+mj-lt"/>
                <a:cs typeface="+mj-lt"/>
                <a:hlinkClick r:id="rId4"/>
              </a:rPr>
              <a:t>Omid Ghamarnejad</a:t>
            </a:r>
            <a:r>
              <a:rPr lang="en-US" sz="1000">
                <a:solidFill>
                  <a:srgbClr val="222222"/>
                </a:solidFill>
                <a:ea typeface="+mj-lt"/>
                <a:cs typeface="+mj-lt"/>
              </a:rPr>
              <a:t>, </a:t>
            </a:r>
            <a:endParaRPr lang="en-US" sz="1000"/>
          </a:p>
          <a:p>
            <a:r>
              <a:rPr lang="en-US" sz="1000" u="sng">
                <a:solidFill>
                  <a:srgbClr val="006699"/>
                </a:solidFill>
                <a:ea typeface="+mj-lt"/>
                <a:cs typeface="+mj-lt"/>
                <a:hlinkClick r:id="rId5"/>
              </a:rPr>
              <a:t>Elias Khajeh</a:t>
            </a:r>
            <a:r>
              <a:rPr lang="en-US" sz="1000">
                <a:solidFill>
                  <a:srgbClr val="222222"/>
                </a:solidFill>
                <a:ea typeface="+mj-lt"/>
                <a:cs typeface="+mj-lt"/>
              </a:rPr>
              <a:t>, </a:t>
            </a:r>
            <a:endParaRPr lang="en-US" sz="1000"/>
          </a:p>
          <a:p>
            <a:r>
              <a:rPr lang="en-US" sz="1000" u="sng">
                <a:solidFill>
                  <a:srgbClr val="006699"/>
                </a:solidFill>
                <a:ea typeface="+mj-lt"/>
                <a:cs typeface="+mj-lt"/>
                <a:hlinkClick r:id="rId6"/>
              </a:rPr>
              <a:t>Sadeq Ali-Hasan-Al-Saegh</a:t>
            </a:r>
            <a:r>
              <a:rPr lang="en-US" sz="1000">
                <a:solidFill>
                  <a:srgbClr val="222222"/>
                </a:solidFill>
                <a:ea typeface="+mj-lt"/>
                <a:cs typeface="+mj-lt"/>
              </a:rPr>
              <a:t>, </a:t>
            </a:r>
            <a:endParaRPr lang="en-US" sz="1000"/>
          </a:p>
          <a:p>
            <a:r>
              <a:rPr lang="en-US" sz="1000" u="sng">
                <a:solidFill>
                  <a:srgbClr val="006699"/>
                </a:solidFill>
                <a:ea typeface="+mj-lt"/>
                <a:cs typeface="+mj-lt"/>
                <a:hlinkClick r:id="rId7"/>
              </a:rPr>
              <a:t>Ali Ramouz</a:t>
            </a:r>
            <a:r>
              <a:rPr lang="en-US" sz="1000">
                <a:solidFill>
                  <a:srgbClr val="222222"/>
                </a:solidFill>
                <a:ea typeface="+mj-lt"/>
                <a:cs typeface="+mj-lt"/>
              </a:rPr>
              <a:t>, </a:t>
            </a:r>
            <a:endParaRPr lang="en-US" sz="1000"/>
          </a:p>
          <a:p>
            <a:r>
              <a:rPr lang="en-US" sz="1000" u="sng">
                <a:solidFill>
                  <a:srgbClr val="006699"/>
                </a:solidFill>
                <a:ea typeface="+mj-lt"/>
                <a:cs typeface="+mj-lt"/>
                <a:hlinkClick r:id="rId8"/>
              </a:rPr>
              <a:t>Roozbeh Salehpour</a:t>
            </a:r>
            <a:r>
              <a:rPr lang="en-US" sz="1000">
                <a:solidFill>
                  <a:srgbClr val="222222"/>
                </a:solidFill>
                <a:ea typeface="+mj-lt"/>
                <a:cs typeface="+mj-lt"/>
              </a:rPr>
              <a:t>, </a:t>
            </a:r>
            <a:endParaRPr lang="en-US" sz="1000"/>
          </a:p>
          <a:p>
            <a:r>
              <a:rPr lang="en-US" sz="1000" u="sng">
                <a:solidFill>
                  <a:srgbClr val="006699"/>
                </a:solidFill>
                <a:ea typeface="+mj-lt"/>
                <a:cs typeface="+mj-lt"/>
                <a:hlinkClick r:id="rId9"/>
              </a:rPr>
              <a:t>Mohammad Golriz</a:t>
            </a:r>
            <a:r>
              <a:rPr lang="en-US" sz="1000">
                <a:solidFill>
                  <a:srgbClr val="222222"/>
                </a:solidFill>
                <a:ea typeface="+mj-lt"/>
                <a:cs typeface="+mj-lt"/>
              </a:rPr>
              <a:t>, </a:t>
            </a:r>
            <a:endParaRPr lang="en-US" sz="1000"/>
          </a:p>
          <a:p>
            <a:pPr algn="ctr"/>
            <a:r>
              <a:rPr lang="en-US" sz="1000" u="sng">
                <a:solidFill>
                  <a:srgbClr val="006699"/>
                </a:solidFill>
                <a:ea typeface="+mj-lt"/>
                <a:cs typeface="+mj-lt"/>
                <a:hlinkClick r:id="rId10"/>
              </a:rPr>
              <a:t>De-Hua Chang</a:t>
            </a:r>
            <a:r>
              <a:rPr lang="en-US" sz="1000">
                <a:solidFill>
                  <a:srgbClr val="222222"/>
                </a:solidFill>
                <a:ea typeface="+mj-lt"/>
                <a:cs typeface="+mj-lt"/>
              </a:rPr>
              <a:t>, </a:t>
            </a:r>
            <a:endParaRPr lang="en-US" sz="1000"/>
          </a:p>
          <a:p>
            <a:r>
              <a:rPr lang="en-US" sz="1000" u="sng">
                <a:solidFill>
                  <a:srgbClr val="006699"/>
                </a:solidFill>
                <a:ea typeface="+mj-lt"/>
                <a:cs typeface="+mj-lt"/>
                <a:hlinkClick r:id="rId11"/>
              </a:rPr>
              <a:t>Markus Mieth</a:t>
            </a:r>
            <a:r>
              <a:rPr lang="en-US" sz="1000">
                <a:solidFill>
                  <a:srgbClr val="222222"/>
                </a:solidFill>
                <a:ea typeface="+mj-lt"/>
                <a:cs typeface="+mj-lt"/>
              </a:rPr>
              <a:t>, </a:t>
            </a:r>
            <a:endParaRPr lang="en-US" sz="1000"/>
          </a:p>
          <a:p>
            <a:r>
              <a:rPr lang="en-US" sz="1000" u="sng">
                <a:solidFill>
                  <a:srgbClr val="006699"/>
                </a:solidFill>
                <a:ea typeface="+mj-lt"/>
                <a:cs typeface="+mj-lt"/>
                <a:hlinkClick r:id="rId12"/>
              </a:rPr>
              <a:t>Katrin Hoffmann</a:t>
            </a:r>
            <a:r>
              <a:rPr lang="en-US" sz="1000">
                <a:solidFill>
                  <a:srgbClr val="222222"/>
                </a:solidFill>
                <a:ea typeface="+mj-lt"/>
                <a:cs typeface="+mj-lt"/>
              </a:rPr>
              <a:t>, </a:t>
            </a:r>
            <a:endParaRPr lang="en-US" sz="1000"/>
          </a:p>
          <a:p>
            <a:r>
              <a:rPr lang="en-US" sz="1000" u="sng">
                <a:solidFill>
                  <a:srgbClr val="006699"/>
                </a:solidFill>
                <a:ea typeface="+mj-lt"/>
                <a:cs typeface="+mj-lt"/>
                <a:hlinkClick r:id="rId13"/>
              </a:rPr>
              <a:t>Pascal Probst</a:t>
            </a:r>
            <a:r>
              <a:rPr lang="en-US" sz="1000">
                <a:solidFill>
                  <a:srgbClr val="222222"/>
                </a:solidFill>
                <a:ea typeface="+mj-lt"/>
                <a:cs typeface="+mj-lt"/>
              </a:rPr>
              <a:t> &amp; </a:t>
            </a:r>
            <a:endParaRPr lang="en-US" sz="1000"/>
          </a:p>
          <a:p>
            <a:r>
              <a:rPr lang="en-US" sz="1000" u="sng">
                <a:solidFill>
                  <a:srgbClr val="006699"/>
                </a:solidFill>
                <a:ea typeface="+mj-lt"/>
                <a:cs typeface="+mj-lt"/>
                <a:hlinkClick r:id="rId14"/>
              </a:rPr>
              <a:t>Arianeb Mehrabi</a:t>
            </a:r>
            <a:r>
              <a:rPr lang="en-US" sz="1000">
                <a:solidFill>
                  <a:srgbClr val="222222"/>
                </a:solidFill>
                <a:ea typeface="+mj-lt"/>
                <a:cs typeface="+mj-lt"/>
              </a:rPr>
              <a:t> </a:t>
            </a:r>
            <a:endParaRPr lang="en-US" sz="1000"/>
          </a:p>
          <a:p>
            <a:r>
              <a:rPr lang="en-US" sz="1000" i="1" u="sng">
                <a:solidFill>
                  <a:srgbClr val="006699"/>
                </a:solidFill>
                <a:ea typeface="+mj-lt"/>
                <a:cs typeface="+mj-lt"/>
                <a:hlinkClick r:id="rId15"/>
              </a:rPr>
              <a:t>Scientific Reports</a:t>
            </a:r>
            <a:r>
              <a:rPr lang="en-US" sz="1000">
                <a:solidFill>
                  <a:srgbClr val="222222"/>
                </a:solidFill>
                <a:ea typeface="+mj-lt"/>
                <a:cs typeface="+mj-lt"/>
              </a:rPr>
              <a:t> </a:t>
            </a:r>
            <a:r>
              <a:rPr lang="en-US" sz="1000" b="1">
                <a:solidFill>
                  <a:srgbClr val="222222"/>
                </a:solidFill>
                <a:ea typeface="+mj-lt"/>
                <a:cs typeface="+mj-lt"/>
              </a:rPr>
              <a:t>volume 11</a:t>
            </a:r>
            <a:r>
              <a:rPr lang="en-US" sz="1000">
                <a:solidFill>
                  <a:srgbClr val="222222"/>
                </a:solidFill>
                <a:ea typeface="+mj-lt"/>
                <a:cs typeface="+mj-lt"/>
              </a:rPr>
              <a:t>, Article number: 3095 (2021) </a:t>
            </a:r>
            <a:r>
              <a:rPr lang="en-US" sz="1000" u="sng">
                <a:solidFill>
                  <a:srgbClr val="006699"/>
                </a:solidFill>
                <a:ea typeface="+mj-lt"/>
                <a:cs typeface="+mj-lt"/>
                <a:hlinkClick r:id="rId16"/>
              </a:rPr>
              <a:t>Cite this article</a:t>
            </a:r>
            <a:endParaRPr lang="en-US" sz="1000"/>
          </a:p>
          <a:p>
            <a:r>
              <a:rPr lang="en-US" sz="1000" b="1">
                <a:solidFill>
                  <a:srgbClr val="222222"/>
                </a:solidFill>
                <a:ea typeface="+mj-lt"/>
                <a:cs typeface="+mj-lt"/>
              </a:rPr>
              <a:t>3412 </a:t>
            </a:r>
            <a:r>
              <a:rPr lang="en-US" sz="1000">
                <a:solidFill>
                  <a:srgbClr val="626262"/>
                </a:solidFill>
                <a:ea typeface="+mj-lt"/>
                <a:cs typeface="+mj-lt"/>
              </a:rPr>
              <a:t>Accesses</a:t>
            </a:r>
            <a:endParaRPr lang="en-US" sz="1000"/>
          </a:p>
          <a:p>
            <a:r>
              <a:rPr lang="en-US" sz="1000" b="1">
                <a:solidFill>
                  <a:srgbClr val="222222"/>
                </a:solidFill>
                <a:ea typeface="+mj-lt"/>
                <a:cs typeface="+mj-lt"/>
              </a:rPr>
              <a:t>26 </a:t>
            </a:r>
            <a:r>
              <a:rPr lang="en-US" sz="1000">
                <a:solidFill>
                  <a:srgbClr val="626262"/>
                </a:solidFill>
                <a:ea typeface="+mj-lt"/>
                <a:cs typeface="+mj-lt"/>
              </a:rPr>
              <a:t>Citations</a:t>
            </a:r>
            <a:endParaRPr lang="en-US" sz="1000"/>
          </a:p>
          <a:p>
            <a:r>
              <a:rPr lang="en-US" sz="1000" b="1">
                <a:solidFill>
                  <a:srgbClr val="222222"/>
                </a:solidFill>
                <a:ea typeface="+mj-lt"/>
                <a:cs typeface="+mj-lt"/>
              </a:rPr>
              <a:t>1 </a:t>
            </a:r>
            <a:r>
              <a:rPr lang="en-US" sz="1000" err="1">
                <a:solidFill>
                  <a:srgbClr val="626262"/>
                </a:solidFill>
                <a:ea typeface="+mj-lt"/>
                <a:cs typeface="+mj-lt"/>
              </a:rPr>
              <a:t>Altmetric</a:t>
            </a:r>
            <a:endParaRPr lang="en-US" sz="1000"/>
          </a:p>
          <a:p>
            <a:r>
              <a:rPr lang="en-US" sz="1000" u="sng">
                <a:solidFill>
                  <a:srgbClr val="006699"/>
                </a:solidFill>
                <a:ea typeface="+mj-lt"/>
                <a:cs typeface="+mj-lt"/>
                <a:hlinkClick r:id="rId17"/>
              </a:rPr>
              <a:t>Metrics</a:t>
            </a:r>
            <a:endParaRPr lang="en-US" sz="1000"/>
          </a:p>
          <a:p>
            <a:endParaRPr lang="en-US"/>
          </a:p>
        </p:txBody>
      </p:sp>
      <p:sp>
        <p:nvSpPr>
          <p:cNvPr id="3" name="Content Placeholder 2">
            <a:extLst>
              <a:ext uri="{FF2B5EF4-FFF2-40B4-BE49-F238E27FC236}">
                <a16:creationId xmlns:a16="http://schemas.microsoft.com/office/drawing/2014/main" id="{354DBF92-89A9-1223-1152-EE5CF44EF425}"/>
              </a:ext>
            </a:extLst>
          </p:cNvPr>
          <p:cNvSpPr>
            <a:spLocks noGrp="1"/>
          </p:cNvSpPr>
          <p:nvPr>
            <p:ph sz="quarter" idx="1"/>
          </p:nvPr>
        </p:nvSpPr>
        <p:spPr>
          <a:xfrm>
            <a:off x="838200" y="3737813"/>
            <a:ext cx="10515600" cy="2439150"/>
          </a:xfrm>
        </p:spPr>
        <p:txBody>
          <a:bodyPr vert="horz" lIns="91440" tIns="45720" rIns="91440" bIns="45720" rtlCol="0" anchor="t">
            <a:normAutofit/>
          </a:bodyPr>
          <a:lstStyle/>
          <a:p>
            <a:r>
              <a:rPr lang="en-US" sz="1400">
                <a:solidFill>
                  <a:srgbClr val="222222"/>
                </a:solidFill>
                <a:ea typeface="+mn-lt"/>
                <a:cs typeface="+mn-lt"/>
              </a:rPr>
              <a:t>Major liver resection is considered the treatment of choice in patients with large and multiple lesions</a:t>
            </a:r>
            <a:r>
              <a:rPr lang="en-US" sz="1000" u="sng" baseline="30000">
                <a:solidFill>
                  <a:srgbClr val="006699"/>
                </a:solidFill>
                <a:ea typeface="+mn-lt"/>
                <a:cs typeface="+mn-lt"/>
                <a:hlinkClick r:id="rId18"/>
              </a:rPr>
              <a:t>1</a:t>
            </a:r>
            <a:r>
              <a:rPr lang="en-US" sz="1400">
                <a:solidFill>
                  <a:srgbClr val="222222"/>
                </a:solidFill>
                <a:ea typeface="+mn-lt"/>
                <a:cs typeface="+mn-lt"/>
              </a:rPr>
              <a:t>. Procedure-related complications can occur following major hepatectomy, and despite remarkable improvements in the surgical technique, morbidity rates remain high</a:t>
            </a:r>
            <a:r>
              <a:rPr lang="en-US" sz="1000" u="sng" baseline="30000">
                <a:solidFill>
                  <a:srgbClr val="006699"/>
                </a:solidFill>
                <a:ea typeface="+mn-lt"/>
                <a:cs typeface="+mn-lt"/>
                <a:hlinkClick r:id="rId19"/>
              </a:rPr>
              <a:t>2</a:t>
            </a:r>
            <a:r>
              <a:rPr lang="en-US" sz="1400">
                <a:solidFill>
                  <a:srgbClr val="222222"/>
                </a:solidFill>
                <a:ea typeface="+mn-lt"/>
                <a:cs typeface="+mn-lt"/>
              </a:rPr>
              <a:t>. Prophylactic drain insertion has been a routine practice in abdominal surgery. </a:t>
            </a:r>
            <a:r>
              <a:rPr lang="en-US" sz="1400">
                <a:solidFill>
                  <a:srgbClr val="FF0000"/>
                </a:solidFill>
                <a:ea typeface="+mn-lt"/>
                <a:cs typeface="+mn-lt"/>
              </a:rPr>
              <a:t>These drains are inserted to detect and characterize bleeding or abdominal collections early on and to prevent and manage postoperative fluid collection</a:t>
            </a:r>
            <a:r>
              <a:rPr lang="en-US" sz="1000" u="sng" baseline="30000">
                <a:solidFill>
                  <a:srgbClr val="006699"/>
                </a:solidFill>
                <a:ea typeface="+mn-lt"/>
                <a:cs typeface="+mn-lt"/>
                <a:hlinkClick r:id="rId20"/>
              </a:rPr>
              <a:t>3</a:t>
            </a:r>
            <a:r>
              <a:rPr lang="en-US" sz="1400">
                <a:solidFill>
                  <a:srgbClr val="222222"/>
                </a:solidFill>
                <a:ea typeface="+mn-lt"/>
                <a:cs typeface="+mn-lt"/>
              </a:rPr>
              <a:t>. However, in recent years, this widespread practice has been abandoned as a routine part of many operations, such as cholecystectomy</a:t>
            </a:r>
            <a:r>
              <a:rPr lang="en-US" sz="1000" u="sng" baseline="30000">
                <a:solidFill>
                  <a:srgbClr val="006699"/>
                </a:solidFill>
                <a:ea typeface="+mn-lt"/>
                <a:cs typeface="+mn-lt"/>
                <a:hlinkClick r:id="rId21"/>
              </a:rPr>
              <a:t>4</a:t>
            </a:r>
            <a:r>
              <a:rPr lang="en-US" sz="1400">
                <a:solidFill>
                  <a:srgbClr val="222222"/>
                </a:solidFill>
                <a:ea typeface="+mn-lt"/>
                <a:cs typeface="+mn-lt"/>
              </a:rPr>
              <a:t>, pancreatic surgery</a:t>
            </a:r>
            <a:r>
              <a:rPr lang="en-US" sz="1000" u="sng" baseline="30000">
                <a:solidFill>
                  <a:srgbClr val="006699"/>
                </a:solidFill>
                <a:ea typeface="+mn-lt"/>
                <a:cs typeface="+mn-lt"/>
                <a:hlinkClick r:id="rId22"/>
              </a:rPr>
              <a:t>5</a:t>
            </a:r>
            <a:r>
              <a:rPr lang="en-US" sz="1400">
                <a:solidFill>
                  <a:srgbClr val="222222"/>
                </a:solidFill>
                <a:ea typeface="+mn-lt"/>
                <a:cs typeface="+mn-lt"/>
              </a:rPr>
              <a:t>, and standard bowel resections</a:t>
            </a:r>
            <a:r>
              <a:rPr lang="en-US" sz="1000" u="sng" baseline="30000">
                <a:solidFill>
                  <a:srgbClr val="006699"/>
                </a:solidFill>
                <a:ea typeface="+mn-lt"/>
                <a:cs typeface="+mn-lt"/>
                <a:hlinkClick r:id="rId23"/>
              </a:rPr>
              <a:t>6</a:t>
            </a:r>
            <a:r>
              <a:rPr lang="en-US" sz="1400">
                <a:solidFill>
                  <a:srgbClr val="222222"/>
                </a:solidFill>
                <a:ea typeface="+mn-lt"/>
                <a:cs typeface="+mn-lt"/>
              </a:rPr>
              <a:t>. Innovations in imaging techniques and advancements in various diagnostic tests have made it possible to identify fluid collections without a prophylactic drain. When necessary, these complications can be managed with interventional percutaneous drainage.</a:t>
            </a:r>
            <a:endParaRPr lang="en-US"/>
          </a:p>
        </p:txBody>
      </p:sp>
    </p:spTree>
    <p:extLst>
      <p:ext uri="{BB962C8B-B14F-4D97-AF65-F5344CB8AC3E}">
        <p14:creationId xmlns:p14="http://schemas.microsoft.com/office/powerpoint/2010/main" val="10906094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5728C-19B3-F97D-8C2C-62892920F5F3}"/>
              </a:ext>
            </a:extLst>
          </p:cNvPr>
          <p:cNvSpPr>
            <a:spLocks noGrp="1"/>
          </p:cNvSpPr>
          <p:nvPr>
            <p:ph type="title"/>
          </p:nvPr>
        </p:nvSpPr>
        <p:spPr>
          <a:xfrm>
            <a:off x="838200" y="365125"/>
            <a:ext cx="10515600" cy="232884"/>
          </a:xfrm>
        </p:spPr>
        <p:txBody>
          <a:bodyPr>
            <a:normAutofit fontScale="90000"/>
          </a:bodyPr>
          <a:lstStyle/>
          <a:p>
            <a:endParaRPr lang="en-US"/>
          </a:p>
        </p:txBody>
      </p:sp>
      <p:sp>
        <p:nvSpPr>
          <p:cNvPr id="3" name="Content Placeholder 2">
            <a:extLst>
              <a:ext uri="{FF2B5EF4-FFF2-40B4-BE49-F238E27FC236}">
                <a16:creationId xmlns:a16="http://schemas.microsoft.com/office/drawing/2014/main" id="{2B9246F2-B779-A762-2DCF-271DD0CC9639}"/>
              </a:ext>
            </a:extLst>
          </p:cNvPr>
          <p:cNvSpPr>
            <a:spLocks noGrp="1"/>
          </p:cNvSpPr>
          <p:nvPr>
            <p:ph sz="quarter" idx="1"/>
          </p:nvPr>
        </p:nvSpPr>
        <p:spPr>
          <a:xfrm>
            <a:off x="838200" y="747324"/>
            <a:ext cx="10515600" cy="5429639"/>
          </a:xfrm>
        </p:spPr>
        <p:txBody>
          <a:bodyPr vert="horz" lIns="91440" tIns="45720" rIns="91440" bIns="45720" rtlCol="0" anchor="t">
            <a:normAutofit fontScale="92500" lnSpcReduction="20000"/>
          </a:bodyPr>
          <a:lstStyle/>
          <a:p>
            <a:r>
              <a:rPr lang="en-US" b="1">
                <a:latin typeface="Merriweather"/>
              </a:rPr>
              <a:t>Prophylactic Intra-abdominal Drains in Major Elective Surgeries: A Comprehensive Review</a:t>
            </a:r>
            <a:endParaRPr lang="en-US"/>
          </a:p>
          <a:p>
            <a:r>
              <a:rPr lang="en-US" sz="1200">
                <a:solidFill>
                  <a:srgbClr val="0071BC"/>
                </a:solidFill>
                <a:ea typeface="+mn-lt"/>
                <a:cs typeface="+mn-lt"/>
                <a:hlinkClick r:id="rId2"/>
              </a:rPr>
              <a:t>Sai Goutham Rekavari</a:t>
            </a:r>
            <a:r>
              <a:rPr lang="en-US" sz="900" baseline="30000">
                <a:solidFill>
                  <a:srgbClr val="5B616B"/>
                </a:solidFill>
                <a:ea typeface="+mn-lt"/>
                <a:cs typeface="+mn-lt"/>
              </a:rPr>
              <a:t> </a:t>
            </a:r>
            <a:r>
              <a:rPr lang="en-US" sz="900" baseline="30000">
                <a:solidFill>
                  <a:srgbClr val="323A45"/>
                </a:solidFill>
                <a:ea typeface="+mn-lt"/>
                <a:cs typeface="+mn-lt"/>
                <a:hlinkClick r:id="rId3"/>
              </a:rPr>
              <a:t>1</a:t>
            </a:r>
            <a:r>
              <a:rPr lang="en-US" sz="1200">
                <a:solidFill>
                  <a:srgbClr val="5B616B"/>
                </a:solidFill>
                <a:ea typeface="+mn-lt"/>
                <a:cs typeface="+mn-lt"/>
              </a:rPr>
              <a:t>, </a:t>
            </a:r>
            <a:r>
              <a:rPr lang="en-US" sz="1200">
                <a:solidFill>
                  <a:srgbClr val="0071BC"/>
                </a:solidFill>
                <a:ea typeface="+mn-lt"/>
                <a:cs typeface="+mn-lt"/>
                <a:hlinkClick r:id="rId4"/>
              </a:rPr>
              <a:t>Chanrashekhar Mahakalkar</a:t>
            </a:r>
            <a:r>
              <a:rPr lang="en-US" sz="900" baseline="30000">
                <a:solidFill>
                  <a:srgbClr val="5B616B"/>
                </a:solidFill>
                <a:ea typeface="+mn-lt"/>
                <a:cs typeface="+mn-lt"/>
              </a:rPr>
              <a:t> </a:t>
            </a:r>
            <a:r>
              <a:rPr lang="en-US" sz="900" baseline="30000">
                <a:solidFill>
                  <a:srgbClr val="323A45"/>
                </a:solidFill>
                <a:ea typeface="+mn-lt"/>
                <a:cs typeface="+mn-lt"/>
                <a:hlinkClick r:id="rId3"/>
              </a:rPr>
              <a:t>1</a:t>
            </a:r>
            <a:endParaRPr lang="en-US"/>
          </a:p>
          <a:p>
            <a:r>
              <a:rPr lang="en-US" sz="1200">
                <a:solidFill>
                  <a:srgbClr val="212121"/>
                </a:solidFill>
                <a:ea typeface="+mn-lt"/>
                <a:cs typeface="+mn-lt"/>
              </a:rPr>
              <a:t>Affiliations </a:t>
            </a:r>
            <a:r>
              <a:rPr lang="en-US" sz="1200">
                <a:solidFill>
                  <a:srgbClr val="323A45"/>
                </a:solidFill>
                <a:ea typeface="+mn-lt"/>
                <a:cs typeface="+mn-lt"/>
              </a:rPr>
              <a:t>Expand</a:t>
            </a:r>
            <a:endParaRPr lang="en-US"/>
          </a:p>
          <a:p>
            <a:r>
              <a:rPr lang="en-US" sz="1200">
                <a:solidFill>
                  <a:srgbClr val="212121"/>
                </a:solidFill>
                <a:ea typeface="+mn-lt"/>
                <a:cs typeface="+mn-lt"/>
              </a:rPr>
              <a:t>PMID: 38481916</a:t>
            </a:r>
            <a:endParaRPr lang="en-US"/>
          </a:p>
          <a:p>
            <a:endParaRPr lang="en-US"/>
          </a:p>
          <a:p>
            <a:r>
              <a:rPr lang="en-US" sz="1200">
                <a:solidFill>
                  <a:srgbClr val="212121"/>
                </a:solidFill>
                <a:ea typeface="+mn-lt"/>
                <a:cs typeface="+mn-lt"/>
              </a:rPr>
              <a:t>PMCID: </a:t>
            </a:r>
            <a:r>
              <a:rPr lang="en-US" sz="1200">
                <a:solidFill>
                  <a:srgbClr val="0071BC"/>
                </a:solidFill>
                <a:ea typeface="+mn-lt"/>
                <a:cs typeface="+mn-lt"/>
                <a:hlinkClick r:id="rId5"/>
              </a:rPr>
              <a:t>PMC10933947</a:t>
            </a:r>
            <a:endParaRPr lang="en-US"/>
          </a:p>
          <a:p>
            <a:endParaRPr lang="en-US"/>
          </a:p>
          <a:p>
            <a:r>
              <a:rPr lang="en-US" sz="1200">
                <a:solidFill>
                  <a:srgbClr val="212121"/>
                </a:solidFill>
                <a:ea typeface="+mn-lt"/>
                <a:cs typeface="+mn-lt"/>
              </a:rPr>
              <a:t>DOI: </a:t>
            </a:r>
            <a:r>
              <a:rPr lang="en-US" sz="1200">
                <a:solidFill>
                  <a:srgbClr val="0071BC"/>
                </a:solidFill>
                <a:ea typeface="+mn-lt"/>
                <a:cs typeface="+mn-lt"/>
                <a:hlinkClick r:id="rId6"/>
              </a:rPr>
              <a:t>10.7759/cureus.54056</a:t>
            </a:r>
            <a:endParaRPr lang="en-US"/>
          </a:p>
          <a:p>
            <a:r>
              <a:rPr lang="en-US" b="1">
                <a:latin typeface="Merriweather"/>
              </a:rPr>
              <a:t>Abstract</a:t>
            </a:r>
            <a:endParaRPr lang="en-US"/>
          </a:p>
          <a:p>
            <a:r>
              <a:rPr lang="en-US" sz="1200">
                <a:solidFill>
                  <a:srgbClr val="212121"/>
                </a:solidFill>
                <a:ea typeface="+mn-lt"/>
                <a:cs typeface="+mn-lt"/>
              </a:rPr>
              <a:t>This comprehensive review explores the use of prophylactic intra-abdominal drains in major elective surgeries, offering a retrospective analysis of their historical evolution, current evidence, and implications for clinical practice. The definition and rationale for drain placement are elucidated, emphasizing their role in preventing postoperative complications. The review synthesizes conflicting evidence, acknowledging the efficacy of drains in specific surgical contexts while addressing concerns and criticisms regarding associated complications. The implications for clinical practice underscore the importance of a nuanced and individualized approach, incorporating shared decision-making between healthcare providers and patients. Looking ahead, areas for future research are identified, including the refinement of patient selection criteria, determination of optimal timing and duration of drain use, and exploration of innovative alternatives. This review contributes to the ongoing discourse as surgical practices evolve, providing insights that may shape evidence-based recommendations and refine best practices in major elective surgeries.</a:t>
            </a:r>
            <a:endParaRPr lang="en-US"/>
          </a:p>
          <a:p>
            <a:r>
              <a:rPr lang="en-US" sz="1200" b="1">
                <a:solidFill>
                  <a:srgbClr val="212121"/>
                </a:solidFill>
                <a:ea typeface="+mn-lt"/>
                <a:cs typeface="+mn-lt"/>
              </a:rPr>
              <a:t>Keywords: </a:t>
            </a:r>
            <a:r>
              <a:rPr lang="en-US" sz="1200">
                <a:solidFill>
                  <a:srgbClr val="212121"/>
                </a:solidFill>
                <a:ea typeface="+mn-lt"/>
                <a:cs typeface="+mn-lt"/>
              </a:rPr>
              <a:t>clinical practice; evidence-based recommendations; major elective surgeries; postoperative complications; prophylactic intra-abdominal drains; shared decision-making.</a:t>
            </a:r>
            <a:endParaRPr lang="en-US"/>
          </a:p>
          <a:p>
            <a:r>
              <a:rPr lang="en-US" sz="1200">
                <a:solidFill>
                  <a:srgbClr val="212121"/>
                </a:solidFill>
                <a:ea typeface="+mn-lt"/>
                <a:cs typeface="+mn-lt"/>
              </a:rPr>
              <a:t>Copyright © 2024, </a:t>
            </a:r>
            <a:r>
              <a:rPr lang="en-US" sz="1200" err="1">
                <a:solidFill>
                  <a:srgbClr val="212121"/>
                </a:solidFill>
                <a:ea typeface="+mn-lt"/>
                <a:cs typeface="+mn-lt"/>
              </a:rPr>
              <a:t>Rekavari</a:t>
            </a:r>
            <a:r>
              <a:rPr lang="en-US" sz="1200">
                <a:solidFill>
                  <a:srgbClr val="212121"/>
                </a:solidFill>
                <a:ea typeface="+mn-lt"/>
                <a:cs typeface="+mn-lt"/>
              </a:rPr>
              <a:t> et al.</a:t>
            </a:r>
            <a:endParaRPr lang="en-US"/>
          </a:p>
          <a:p>
            <a:r>
              <a:rPr lang="en-US" sz="1200">
                <a:solidFill>
                  <a:srgbClr val="0071BC"/>
                </a:solidFill>
                <a:ea typeface="+mn-lt"/>
                <a:cs typeface="+mn-lt"/>
                <a:hlinkClick r:id="rId7"/>
              </a:rPr>
              <a:t>PubMed Disclaimer</a:t>
            </a:r>
            <a:endParaRPr lang="en-US"/>
          </a:p>
          <a:p>
            <a:r>
              <a:rPr lang="en-US" b="1">
                <a:latin typeface="Merriweather"/>
              </a:rPr>
              <a:t>Conflict of interest statement</a:t>
            </a:r>
            <a:endParaRPr lang="en-US"/>
          </a:p>
          <a:p>
            <a:r>
              <a:rPr lang="en-US" sz="1200">
                <a:solidFill>
                  <a:srgbClr val="212121"/>
                </a:solidFill>
                <a:ea typeface="+mn-lt"/>
                <a:cs typeface="+mn-lt"/>
              </a:rPr>
              <a:t>The authors have declared that no competing interests exist.</a:t>
            </a:r>
            <a:endParaRPr lang="en-US"/>
          </a:p>
          <a:p>
            <a:endParaRPr lang="en-US"/>
          </a:p>
        </p:txBody>
      </p:sp>
    </p:spTree>
    <p:extLst>
      <p:ext uri="{BB962C8B-B14F-4D97-AF65-F5344CB8AC3E}">
        <p14:creationId xmlns:p14="http://schemas.microsoft.com/office/powerpoint/2010/main" val="3486072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EC612-178A-BE6B-7145-1A6D65087FD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E1926DA-12CE-3FE0-0B7E-4399D2FD53AF}"/>
              </a:ext>
            </a:extLst>
          </p:cNvPr>
          <p:cNvSpPr>
            <a:spLocks noGrp="1"/>
          </p:cNvSpPr>
          <p:nvPr>
            <p:ph sz="quarter" idx="1"/>
          </p:nvPr>
        </p:nvSpPr>
        <p:spPr/>
        <p:txBody>
          <a:bodyPr vert="horz" lIns="91440" tIns="45720" rIns="91440" bIns="45720" rtlCol="0" anchor="t">
            <a:normAutofit/>
          </a:bodyPr>
          <a:lstStyle/>
          <a:p>
            <a:r>
              <a:rPr lang="en-US" sz="2100" b="1">
                <a:solidFill>
                  <a:srgbClr val="494949"/>
                </a:solidFill>
                <a:latin typeface="Open Sans"/>
                <a:ea typeface="Open Sans"/>
                <a:cs typeface="Open Sans"/>
              </a:rPr>
              <a:t>Early removal of prophylactic drains reduces the risk of intra-abdominal infections in patients with pancreatic head resection: prospective study for 104 consecutive patients.</a:t>
            </a:r>
            <a:endParaRPr lang="en-US"/>
          </a:p>
          <a:p>
            <a:r>
              <a:rPr lang="en-US" sz="1100">
                <a:solidFill>
                  <a:srgbClr val="20699C"/>
                </a:solidFill>
                <a:latin typeface="Open Sans"/>
                <a:ea typeface="Open Sans"/>
                <a:cs typeface="Open Sans"/>
              </a:rPr>
              <a:t>Kawai M </a:t>
            </a:r>
            <a:r>
              <a:rPr lang="en-US" sz="800" baseline="30000">
                <a:solidFill>
                  <a:srgbClr val="494949"/>
                </a:solidFill>
                <a:latin typeface="Open Sans"/>
                <a:ea typeface="Open Sans"/>
                <a:cs typeface="Open Sans"/>
              </a:rPr>
              <a:t>1</a:t>
            </a:r>
            <a:r>
              <a:rPr lang="en-US" sz="1100">
                <a:solidFill>
                  <a:srgbClr val="494949"/>
                </a:solidFill>
                <a:latin typeface="Open Sans"/>
                <a:ea typeface="Open Sans"/>
                <a:cs typeface="Open Sans"/>
              </a:rPr>
              <a:t>, </a:t>
            </a:r>
            <a:endParaRPr lang="en-US"/>
          </a:p>
          <a:p>
            <a:r>
              <a:rPr lang="en-US" sz="1100">
                <a:solidFill>
                  <a:srgbClr val="20699C"/>
                </a:solidFill>
                <a:latin typeface="Open Sans"/>
                <a:ea typeface="Open Sans"/>
                <a:cs typeface="Open Sans"/>
              </a:rPr>
              <a:t>Tani M </a:t>
            </a:r>
            <a:r>
              <a:rPr lang="en-US" sz="1100">
                <a:solidFill>
                  <a:srgbClr val="494949"/>
                </a:solidFill>
                <a:latin typeface="Open Sans"/>
                <a:ea typeface="Open Sans"/>
                <a:cs typeface="Open Sans"/>
              </a:rPr>
              <a:t>, </a:t>
            </a:r>
            <a:endParaRPr lang="en-US"/>
          </a:p>
          <a:p>
            <a:r>
              <a:rPr lang="en-US" sz="1100">
                <a:solidFill>
                  <a:srgbClr val="20699C"/>
                </a:solidFill>
                <a:latin typeface="Open Sans"/>
                <a:ea typeface="Open Sans"/>
                <a:cs typeface="Open Sans"/>
              </a:rPr>
              <a:t>Terasawa H </a:t>
            </a:r>
            <a:r>
              <a:rPr lang="en-US" sz="1100">
                <a:solidFill>
                  <a:srgbClr val="494949"/>
                </a:solidFill>
                <a:latin typeface="Open Sans"/>
                <a:ea typeface="Open Sans"/>
                <a:cs typeface="Open Sans"/>
              </a:rPr>
              <a:t>, </a:t>
            </a:r>
            <a:endParaRPr lang="en-US"/>
          </a:p>
          <a:p>
            <a:r>
              <a:rPr lang="en-US" sz="1100">
                <a:solidFill>
                  <a:srgbClr val="20699C"/>
                </a:solidFill>
                <a:latin typeface="Open Sans"/>
                <a:ea typeface="Open Sans"/>
                <a:cs typeface="Open Sans"/>
              </a:rPr>
              <a:t>Ina S </a:t>
            </a:r>
            <a:r>
              <a:rPr lang="en-US" sz="1100">
                <a:solidFill>
                  <a:srgbClr val="494949"/>
                </a:solidFill>
                <a:latin typeface="Open Sans"/>
                <a:ea typeface="Open Sans"/>
                <a:cs typeface="Open Sans"/>
              </a:rPr>
              <a:t>, </a:t>
            </a:r>
            <a:endParaRPr lang="en-US"/>
          </a:p>
          <a:p>
            <a:r>
              <a:rPr lang="en-US" sz="1100">
                <a:solidFill>
                  <a:srgbClr val="20699C"/>
                </a:solidFill>
                <a:latin typeface="Open Sans"/>
                <a:ea typeface="Open Sans"/>
                <a:cs typeface="Open Sans"/>
              </a:rPr>
              <a:t>Hirono S </a:t>
            </a:r>
            <a:r>
              <a:rPr lang="en-US" sz="1100">
                <a:solidFill>
                  <a:srgbClr val="494949"/>
                </a:solidFill>
                <a:latin typeface="Open Sans"/>
                <a:ea typeface="Open Sans"/>
                <a:cs typeface="Open Sans"/>
              </a:rPr>
              <a:t>, </a:t>
            </a:r>
            <a:endParaRPr lang="en-US"/>
          </a:p>
          <a:p>
            <a:r>
              <a:rPr lang="en-US" sz="1100">
                <a:solidFill>
                  <a:srgbClr val="20699C"/>
                </a:solidFill>
                <a:latin typeface="Open Sans"/>
                <a:ea typeface="Open Sans"/>
                <a:cs typeface="Open Sans"/>
              </a:rPr>
              <a:t>Nishioka R </a:t>
            </a:r>
            <a:r>
              <a:rPr lang="en-US" sz="1100">
                <a:solidFill>
                  <a:srgbClr val="494949"/>
                </a:solidFill>
                <a:latin typeface="Open Sans"/>
                <a:ea typeface="Open Sans"/>
                <a:cs typeface="Open Sans"/>
              </a:rPr>
              <a:t>, </a:t>
            </a:r>
            <a:endParaRPr lang="en-US"/>
          </a:p>
          <a:p>
            <a:r>
              <a:rPr lang="en-US" sz="1100">
                <a:solidFill>
                  <a:srgbClr val="20699C"/>
                </a:solidFill>
                <a:latin typeface="Open Sans"/>
                <a:ea typeface="Open Sans"/>
                <a:cs typeface="Open Sans"/>
              </a:rPr>
              <a:t>Miyazawa M </a:t>
            </a:r>
            <a:r>
              <a:rPr lang="en-US" sz="1100">
                <a:solidFill>
                  <a:srgbClr val="494949"/>
                </a:solidFill>
                <a:latin typeface="Open Sans"/>
                <a:ea typeface="Open Sans"/>
                <a:cs typeface="Open Sans"/>
              </a:rPr>
              <a:t>, </a:t>
            </a:r>
            <a:endParaRPr lang="en-US"/>
          </a:p>
          <a:p>
            <a:r>
              <a:rPr lang="en-US" sz="1100">
                <a:solidFill>
                  <a:srgbClr val="20699C"/>
                </a:solidFill>
                <a:latin typeface="Open Sans"/>
                <a:ea typeface="Open Sans"/>
                <a:cs typeface="Open Sans"/>
              </a:rPr>
              <a:t>Uchiyama K </a:t>
            </a:r>
            <a:r>
              <a:rPr lang="en-US" sz="1100">
                <a:solidFill>
                  <a:srgbClr val="494949"/>
                </a:solidFill>
                <a:latin typeface="Open Sans"/>
                <a:ea typeface="Open Sans"/>
                <a:cs typeface="Open Sans"/>
              </a:rPr>
              <a:t>, </a:t>
            </a:r>
            <a:endParaRPr lang="en-US"/>
          </a:p>
          <a:p>
            <a:r>
              <a:rPr lang="en-US" sz="1100">
                <a:solidFill>
                  <a:srgbClr val="20699C"/>
                </a:solidFill>
                <a:latin typeface="Open Sans"/>
                <a:ea typeface="Open Sans"/>
                <a:cs typeface="Open Sans"/>
              </a:rPr>
              <a:t>Yamaue H</a:t>
            </a:r>
            <a:endParaRPr lang="en-US"/>
          </a:p>
          <a:p>
            <a:r>
              <a:rPr lang="en-US" sz="1200" b="1">
                <a:solidFill>
                  <a:srgbClr val="20699C"/>
                </a:solidFill>
              </a:rPr>
              <a:t>Author information</a:t>
            </a:r>
            <a:endParaRPr lang="en-US"/>
          </a:p>
          <a:p>
            <a:r>
              <a:rPr lang="en-US" sz="1100" b="1">
                <a:solidFill>
                  <a:srgbClr val="494949"/>
                </a:solidFill>
                <a:latin typeface="Open Sans"/>
                <a:ea typeface="Open Sans"/>
                <a:cs typeface="Open Sans"/>
              </a:rPr>
              <a:t>Annals of Surgery</a:t>
            </a:r>
            <a:r>
              <a:rPr lang="en-US" sz="1100">
                <a:solidFill>
                  <a:srgbClr val="494949"/>
                </a:solidFill>
                <a:latin typeface="Open Sans"/>
                <a:ea typeface="Open Sans"/>
                <a:cs typeface="Open Sans"/>
              </a:rPr>
              <a:t>, 01 Jul 2006, 244(1):1-7</a:t>
            </a:r>
            <a:br>
              <a:rPr lang="en-US" sz="1100">
                <a:solidFill>
                  <a:srgbClr val="494949"/>
                </a:solidFill>
                <a:latin typeface="Open Sans"/>
                <a:ea typeface="Open Sans"/>
                <a:cs typeface="Open Sans"/>
              </a:rPr>
            </a:br>
            <a:r>
              <a:rPr lang="en-US" sz="1100">
                <a:solidFill>
                  <a:srgbClr val="494949"/>
                </a:solidFill>
                <a:latin typeface="Open Sans"/>
                <a:ea typeface="Open Sans"/>
                <a:cs typeface="Open Sans"/>
                <a:hlinkClick r:id="rId2"/>
              </a:rPr>
              <a:t>https://doi.org/10.1097/01.sla.0000218077.14035.a6</a:t>
            </a:r>
            <a:r>
              <a:rPr lang="en-US" sz="1100">
                <a:solidFill>
                  <a:srgbClr val="494949"/>
                </a:solidFill>
                <a:latin typeface="Open Sans"/>
                <a:ea typeface="Open Sans"/>
                <a:cs typeface="Open Sans"/>
              </a:rPr>
              <a:t> PMID: 16794381 </a:t>
            </a:r>
            <a:endParaRPr lang="en-US"/>
          </a:p>
          <a:p>
            <a:endParaRPr lang="en-US"/>
          </a:p>
        </p:txBody>
      </p:sp>
    </p:spTree>
    <p:extLst>
      <p:ext uri="{BB962C8B-B14F-4D97-AF65-F5344CB8AC3E}">
        <p14:creationId xmlns:p14="http://schemas.microsoft.com/office/powerpoint/2010/main" val="29842269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20B79-1FDA-567C-A888-715B53417BDE}"/>
              </a:ext>
            </a:extLst>
          </p:cNvPr>
          <p:cNvSpPr>
            <a:spLocks noGrp="1"/>
          </p:cNvSpPr>
          <p:nvPr>
            <p:ph type="title"/>
          </p:nvPr>
        </p:nvSpPr>
        <p:spPr>
          <a:xfrm>
            <a:off x="838200" y="365125"/>
            <a:ext cx="10515600" cy="175375"/>
          </a:xfrm>
        </p:spPr>
        <p:txBody>
          <a:bodyPr>
            <a:normAutofit fontScale="90000"/>
          </a:bodyPr>
          <a:lstStyle/>
          <a:p>
            <a:endParaRPr lang="en-US"/>
          </a:p>
        </p:txBody>
      </p:sp>
      <p:sp>
        <p:nvSpPr>
          <p:cNvPr id="3" name="Content Placeholder 2">
            <a:extLst>
              <a:ext uri="{FF2B5EF4-FFF2-40B4-BE49-F238E27FC236}">
                <a16:creationId xmlns:a16="http://schemas.microsoft.com/office/drawing/2014/main" id="{4D7F8E93-DDDB-1EE6-0B44-1622E3E90B02}"/>
              </a:ext>
            </a:extLst>
          </p:cNvPr>
          <p:cNvSpPr>
            <a:spLocks noGrp="1"/>
          </p:cNvSpPr>
          <p:nvPr>
            <p:ph sz="quarter" idx="1"/>
          </p:nvPr>
        </p:nvSpPr>
        <p:spPr/>
        <p:txBody>
          <a:bodyPr vert="horz" lIns="91440" tIns="45720" rIns="91440" bIns="45720" rtlCol="0" anchor="t">
            <a:normAutofit/>
          </a:bodyPr>
          <a:lstStyle/>
          <a:p>
            <a:r>
              <a:rPr lang="en-US" sz="1100">
                <a:solidFill>
                  <a:srgbClr val="707070"/>
                </a:solidFill>
              </a:rPr>
              <a:t>Review Article</a:t>
            </a:r>
            <a:endParaRPr lang="en-US"/>
          </a:p>
          <a:p>
            <a:r>
              <a:rPr lang="en-US" sz="2400">
                <a:solidFill>
                  <a:srgbClr val="1F1F1F"/>
                </a:solidFill>
              </a:rPr>
              <a:t>Safety and efficacy of using prophylactic drainage after intra-abdominal surgeries: An umbrella review of systematic review and meta-analysis studies</a:t>
            </a:r>
            <a:endParaRPr lang="en-US"/>
          </a:p>
          <a:p>
            <a:r>
              <a:rPr lang="en-US" sz="1200">
                <a:solidFill>
                  <a:srgbClr val="1F1F1F"/>
                </a:solidFill>
                <a:ea typeface="+mn-lt"/>
                <a:cs typeface="+mn-lt"/>
              </a:rPr>
              <a:t>Author links open overlay </a:t>
            </a:r>
            <a:r>
              <a:rPr lang="en-US" sz="1200" err="1">
                <a:solidFill>
                  <a:srgbClr val="1F1F1F"/>
                </a:solidFill>
                <a:ea typeface="+mn-lt"/>
                <a:cs typeface="+mn-lt"/>
              </a:rPr>
              <a:t>panelAhmad</a:t>
            </a:r>
            <a:r>
              <a:rPr lang="en-US" sz="1200">
                <a:solidFill>
                  <a:srgbClr val="1F1F1F"/>
                </a:solidFill>
                <a:ea typeface="+mn-lt"/>
                <a:cs typeface="+mn-lt"/>
              </a:rPr>
              <a:t> Yamen Arnaout </a:t>
            </a:r>
            <a:r>
              <a:rPr lang="en-US" sz="900" baseline="30000">
                <a:solidFill>
                  <a:srgbClr val="1F1F1F"/>
                </a:solidFill>
                <a:ea typeface="+mn-lt"/>
                <a:cs typeface="+mn-lt"/>
              </a:rPr>
              <a:t>a</a:t>
            </a:r>
            <a:r>
              <a:rPr lang="en-US" sz="1200">
                <a:solidFill>
                  <a:srgbClr val="1F1F1F"/>
                </a:solidFill>
                <a:ea typeface="+mn-lt"/>
                <a:cs typeface="+mn-lt"/>
              </a:rPr>
              <a:t>, Hassan Alhaj Ali </a:t>
            </a:r>
            <a:r>
              <a:rPr lang="en-US" sz="900" baseline="30000">
                <a:solidFill>
                  <a:srgbClr val="1F1F1F"/>
                </a:solidFill>
                <a:ea typeface="+mn-lt"/>
                <a:cs typeface="+mn-lt"/>
              </a:rPr>
              <a:t>a</a:t>
            </a:r>
            <a:r>
              <a:rPr lang="en-US" sz="1200">
                <a:solidFill>
                  <a:srgbClr val="1F1F1F"/>
                </a:solidFill>
                <a:ea typeface="+mn-lt"/>
                <a:cs typeface="+mn-lt"/>
              </a:rPr>
              <a:t>, Yaman </a:t>
            </a:r>
            <a:r>
              <a:rPr lang="en-US" sz="1200" err="1">
                <a:solidFill>
                  <a:srgbClr val="1F1F1F"/>
                </a:solidFill>
                <a:ea typeface="+mn-lt"/>
                <a:cs typeface="+mn-lt"/>
              </a:rPr>
              <a:t>Nerabani</a:t>
            </a:r>
            <a:r>
              <a:rPr lang="en-US" sz="1200">
                <a:solidFill>
                  <a:srgbClr val="1F1F1F"/>
                </a:solidFill>
                <a:ea typeface="+mn-lt"/>
                <a:cs typeface="+mn-lt"/>
              </a:rPr>
              <a:t> </a:t>
            </a:r>
            <a:r>
              <a:rPr lang="en-US" sz="900" baseline="30000">
                <a:solidFill>
                  <a:srgbClr val="1F1F1F"/>
                </a:solidFill>
                <a:ea typeface="+mn-lt"/>
                <a:cs typeface="+mn-lt"/>
              </a:rPr>
              <a:t>a</a:t>
            </a:r>
            <a:r>
              <a:rPr lang="en-US" sz="1200">
                <a:solidFill>
                  <a:srgbClr val="1F1F1F"/>
                </a:solidFill>
                <a:ea typeface="+mn-lt"/>
                <a:cs typeface="+mn-lt"/>
              </a:rPr>
              <a:t>, Mohamad Yahia </a:t>
            </a:r>
            <a:r>
              <a:rPr lang="en-US" sz="1200" err="1">
                <a:solidFill>
                  <a:srgbClr val="1F1F1F"/>
                </a:solidFill>
                <a:ea typeface="+mn-lt"/>
                <a:cs typeface="+mn-lt"/>
              </a:rPr>
              <a:t>Fallaha</a:t>
            </a:r>
            <a:r>
              <a:rPr lang="en-US" sz="1200">
                <a:solidFill>
                  <a:srgbClr val="1F1F1F"/>
                </a:solidFill>
                <a:ea typeface="+mn-lt"/>
                <a:cs typeface="+mn-lt"/>
              </a:rPr>
              <a:t> </a:t>
            </a:r>
            <a:r>
              <a:rPr lang="en-US" sz="900" baseline="30000">
                <a:solidFill>
                  <a:srgbClr val="1F1F1F"/>
                </a:solidFill>
                <a:ea typeface="+mn-lt"/>
                <a:cs typeface="+mn-lt"/>
              </a:rPr>
              <a:t>a</a:t>
            </a:r>
            <a:r>
              <a:rPr lang="en-US" sz="1200">
                <a:solidFill>
                  <a:srgbClr val="1F1F1F"/>
                </a:solidFill>
                <a:ea typeface="+mn-lt"/>
                <a:cs typeface="+mn-lt"/>
              </a:rPr>
              <a:t>, Abd </a:t>
            </a:r>
            <a:r>
              <a:rPr lang="en-US" sz="1200" err="1">
                <a:solidFill>
                  <a:srgbClr val="1F1F1F"/>
                </a:solidFill>
                <a:ea typeface="+mn-lt"/>
                <a:cs typeface="+mn-lt"/>
              </a:rPr>
              <a:t>Alazeez</a:t>
            </a:r>
            <a:r>
              <a:rPr lang="en-US" sz="1200">
                <a:solidFill>
                  <a:srgbClr val="1F1F1F"/>
                </a:solidFill>
                <a:ea typeface="+mn-lt"/>
                <a:cs typeface="+mn-lt"/>
              </a:rPr>
              <a:t> Atli </a:t>
            </a:r>
            <a:r>
              <a:rPr lang="en-US" sz="900" baseline="30000">
                <a:solidFill>
                  <a:srgbClr val="1F1F1F"/>
                </a:solidFill>
                <a:ea typeface="+mn-lt"/>
                <a:cs typeface="+mn-lt"/>
              </a:rPr>
              <a:t>a</a:t>
            </a:r>
            <a:r>
              <a:rPr lang="en-US" sz="1200">
                <a:solidFill>
                  <a:srgbClr val="1F1F1F"/>
                </a:solidFill>
                <a:ea typeface="+mn-lt"/>
                <a:cs typeface="+mn-lt"/>
              </a:rPr>
              <a:t>, Joudi </a:t>
            </a:r>
            <a:r>
              <a:rPr lang="en-US" sz="1200" err="1">
                <a:solidFill>
                  <a:srgbClr val="1F1F1F"/>
                </a:solidFill>
                <a:ea typeface="+mn-lt"/>
                <a:cs typeface="+mn-lt"/>
              </a:rPr>
              <a:t>Tarabishi</a:t>
            </a:r>
            <a:r>
              <a:rPr lang="en-US" sz="1200">
                <a:solidFill>
                  <a:srgbClr val="1F1F1F"/>
                </a:solidFill>
                <a:ea typeface="+mn-lt"/>
                <a:cs typeface="+mn-lt"/>
              </a:rPr>
              <a:t> </a:t>
            </a:r>
            <a:r>
              <a:rPr lang="en-US" sz="900" baseline="30000">
                <a:solidFill>
                  <a:srgbClr val="1F1F1F"/>
                </a:solidFill>
                <a:ea typeface="+mn-lt"/>
                <a:cs typeface="+mn-lt"/>
              </a:rPr>
              <a:t>a</a:t>
            </a:r>
            <a:r>
              <a:rPr lang="en-US" sz="1200">
                <a:solidFill>
                  <a:srgbClr val="1F1F1F"/>
                </a:solidFill>
                <a:ea typeface="+mn-lt"/>
                <a:cs typeface="+mn-lt"/>
              </a:rPr>
              <a:t>, Rima Salem </a:t>
            </a:r>
            <a:r>
              <a:rPr lang="en-US" sz="900" baseline="30000">
                <a:solidFill>
                  <a:srgbClr val="1F1F1F"/>
                </a:solidFill>
                <a:ea typeface="+mn-lt"/>
                <a:cs typeface="+mn-lt"/>
              </a:rPr>
              <a:t>a</a:t>
            </a:r>
            <a:r>
              <a:rPr lang="en-US" sz="1200">
                <a:solidFill>
                  <a:srgbClr val="1F1F1F"/>
                </a:solidFill>
                <a:ea typeface="+mn-lt"/>
                <a:cs typeface="+mn-lt"/>
              </a:rPr>
              <a:t>, Khaled Arnaout </a:t>
            </a:r>
            <a:r>
              <a:rPr lang="en-US" sz="900" baseline="30000">
                <a:solidFill>
                  <a:srgbClr val="1F1F1F"/>
                </a:solidFill>
                <a:ea typeface="+mn-lt"/>
                <a:cs typeface="+mn-lt"/>
              </a:rPr>
              <a:t>a</a:t>
            </a:r>
            <a:r>
              <a:rPr lang="en-US" sz="1200">
                <a:solidFill>
                  <a:srgbClr val="1F1F1F"/>
                </a:solidFill>
                <a:ea typeface="+mn-lt"/>
                <a:cs typeface="+mn-lt"/>
              </a:rPr>
              <a:t>, Lama Kadoura </a:t>
            </a:r>
            <a:r>
              <a:rPr lang="en-US" sz="900" baseline="30000">
                <a:solidFill>
                  <a:srgbClr val="1F1F1F"/>
                </a:solidFill>
                <a:ea typeface="+mn-lt"/>
                <a:cs typeface="+mn-lt"/>
              </a:rPr>
              <a:t>b</a:t>
            </a:r>
            <a:r>
              <a:rPr lang="en-US" sz="1200">
                <a:solidFill>
                  <a:srgbClr val="1F1F1F"/>
                </a:solidFill>
                <a:ea typeface="+mn-lt"/>
                <a:cs typeface="+mn-lt"/>
              </a:rPr>
              <a:t>, Ahmad Ghazal </a:t>
            </a:r>
            <a:r>
              <a:rPr lang="en-US" sz="900" baseline="30000">
                <a:solidFill>
                  <a:srgbClr val="1F1F1F"/>
                </a:solidFill>
                <a:ea typeface="+mn-lt"/>
                <a:cs typeface="+mn-lt"/>
              </a:rPr>
              <a:t>b</a:t>
            </a:r>
            <a:endParaRPr lang="en-US"/>
          </a:p>
          <a:p>
            <a:r>
              <a:rPr lang="en-US" sz="1200">
                <a:solidFill>
                  <a:srgbClr val="0272B1"/>
                </a:solidFill>
                <a:ea typeface="+mn-lt"/>
                <a:cs typeface="+mn-lt"/>
              </a:rPr>
              <a:t>Show more</a:t>
            </a:r>
            <a:endParaRPr lang="en-US"/>
          </a:p>
          <a:p>
            <a:r>
              <a:rPr lang="en-US" sz="1200">
                <a:solidFill>
                  <a:srgbClr val="1F1F1F"/>
                </a:solidFill>
                <a:ea typeface="+mn-lt"/>
                <a:cs typeface="+mn-lt"/>
              </a:rPr>
              <a:t>Add to Mendeley</a:t>
            </a:r>
            <a:endParaRPr lang="en-US"/>
          </a:p>
          <a:p>
            <a:r>
              <a:rPr lang="en-US" sz="1200">
                <a:solidFill>
                  <a:srgbClr val="1F1F1F"/>
                </a:solidFill>
                <a:ea typeface="+mn-lt"/>
                <a:cs typeface="+mn-lt"/>
              </a:rPr>
              <a:t>Share</a:t>
            </a:r>
            <a:endParaRPr lang="en-US"/>
          </a:p>
          <a:p>
            <a:r>
              <a:rPr lang="en-US" sz="1200">
                <a:solidFill>
                  <a:srgbClr val="1F1F1F"/>
                </a:solidFill>
                <a:ea typeface="+mn-lt"/>
                <a:cs typeface="+mn-lt"/>
              </a:rPr>
              <a:t>Cite</a:t>
            </a:r>
            <a:endParaRPr lang="en-US"/>
          </a:p>
          <a:p>
            <a:r>
              <a:rPr lang="en-US" sz="1100">
                <a:solidFill>
                  <a:srgbClr val="0272B1"/>
                </a:solidFill>
                <a:ea typeface="+mn-lt"/>
                <a:cs typeface="+mn-lt"/>
                <a:hlinkClick r:id="rId2"/>
              </a:rPr>
              <a:t>https://doi.org/10.1016/j.ijso.2022.100545</a:t>
            </a:r>
            <a:endParaRPr lang="en-US"/>
          </a:p>
          <a:p>
            <a:endParaRPr lang="en-US"/>
          </a:p>
        </p:txBody>
      </p:sp>
    </p:spTree>
    <p:extLst>
      <p:ext uri="{BB962C8B-B14F-4D97-AF65-F5344CB8AC3E}">
        <p14:creationId xmlns:p14="http://schemas.microsoft.com/office/powerpoint/2010/main" val="150129855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AA theme">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extLst>
    <a:ext uri="{05A4C25C-085E-4340-85A3-A5531E510DB2}">
      <thm15:themeFamily xmlns:thm15="http://schemas.microsoft.com/office/thememl/2012/main" name="EAA theme" id="{369B690E-211A-4C3A-BF6D-B6C10C39D792}" vid="{D6A207DB-12D6-496A-B027-1AD79AEF30E0}"/>
    </a:ext>
  </a:extLst>
</a:theme>
</file>

<file path=docProps/app.xml><?xml version="1.0" encoding="utf-8"?>
<Properties xmlns="http://schemas.openxmlformats.org/officeDocument/2006/extended-properties" xmlns:vt="http://schemas.openxmlformats.org/officeDocument/2006/docPropsVTypes">
  <Template/>
  <TotalTime>112</TotalTime>
  <Words>1424</Words>
  <Application>Microsoft Office PowerPoint</Application>
  <PresentationFormat>Widescreen</PresentationFormat>
  <Paragraphs>194</Paragraphs>
  <Slides>24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Aptos</vt:lpstr>
      <vt:lpstr>Calibri</vt:lpstr>
      <vt:lpstr>Courier New</vt:lpstr>
      <vt:lpstr>Gill Sans MT</vt:lpstr>
      <vt:lpstr>Merriweather</vt:lpstr>
      <vt:lpstr>Open Sans</vt:lpstr>
      <vt:lpstr>Tahoma</vt:lpstr>
      <vt:lpstr>Wingdings</vt:lpstr>
      <vt:lpstr>Wingdings 3</vt:lpstr>
      <vt:lpstr>EAA theme</vt:lpstr>
      <vt:lpstr>PowerPoint Presentation</vt:lpstr>
      <vt:lpstr>Outline</vt:lpstr>
      <vt:lpstr>Objectives</vt:lpstr>
      <vt:lpstr>Brainstorming</vt:lpstr>
      <vt:lpstr>Introduction</vt:lpstr>
      <vt:lpstr>…Cont’d</vt:lpstr>
      <vt:lpstr>When to Use (General Indications)</vt:lpstr>
      <vt:lpstr>ERAS recommendations</vt:lpstr>
      <vt:lpstr>…Cont’d</vt:lpstr>
      <vt:lpstr>When Not to Use (Avoiding “Drainomania”)</vt:lpstr>
      <vt:lpstr>Nasogastric (NG) tubes</vt:lpstr>
      <vt:lpstr>…Cont’d</vt:lpstr>
      <vt:lpstr>Urinary (Foley) catheters</vt:lpstr>
      <vt:lpstr>Feeding tubes (nasojejunal/jejunostomy)</vt:lpstr>
      <vt:lpstr>Summary</vt:lpstr>
      <vt:lpstr>PowerPoint Presentation</vt:lpstr>
      <vt:lpstr>PowerPoint Presentation</vt:lpstr>
      <vt:lpstr>PowerPoint Presentation</vt:lpstr>
      <vt:lpstr>PowerPoint Presentation</vt:lpstr>
      <vt:lpstr>PowerPoint Presentation</vt:lpstr>
      <vt:lpstr>Systematic review and meta-analysis of the efficacy of prophylactic abdominal drainage in major liver resections Sepehr Abbasi Dezfouli,  Umut Kaan Ünal,  Omid Ghamarnejad,  Elias Khajeh,  Sadeq Ali-Hasan-Al-Saegh,  Ali Ramouz,  Roozbeh Salehpour,  Mohammad Golriz,  De-Hua Chang,  Markus Mieth,  Katrin Hoffmann,  Pascal Probst &amp;  Arianeb Mehrabi  Scientific Reports volume 11, Article number: 3095 (2021) Cite this article 3412 Accesses 26 Citations 1 Altmetric Metrics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Amare Hailekiros</cp:lastModifiedBy>
  <cp:revision>12</cp:revision>
  <dcterms:created xsi:type="dcterms:W3CDTF">2013-07-15T20:26:40Z</dcterms:created>
  <dcterms:modified xsi:type="dcterms:W3CDTF">2026-03-07T19:57:09Z</dcterms:modified>
</cp:coreProperties>
</file>